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7" r:id="rId14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9FE4DB2-A758-4CF3-8AD0-7D34A3E01173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E05F8F6-CA87-4775-B2EB-EAF7466BE2C2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5D502B-0E0E-46BA-9000-F695C206BAE9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371600" y="1092960"/>
            <a:ext cx="96004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9D2F0F-7596-49B9-8A23-D836346C2B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480" cy="14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89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9600480" cy="358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84120" indent="-384120" defTabSz="91440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1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en-US" sz="2000" b="0" i="1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2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3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en-US" sz="1800" b="0" i="1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4" indent="-384120" defTabSz="91440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1390680" y="6453360"/>
            <a:ext cx="1203840" cy="40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893680" y="6453360"/>
            <a:ext cx="6280200" cy="40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9472680" y="6453360"/>
            <a:ext cx="1595520" cy="40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B0FDB69-D59C-4572-A9A7-24E84BD355F1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3533289-D54D-45EC-A726-B053DE4483E5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DEDE435-E998-4E68-BC90-085075282F99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604C6FE-F9A4-4F59-A5DA-3AC1EFE53627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7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B76AF0B-AC12-4265-BEFF-35F82BEA09CC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B32A0CB-CE11-4197-B18A-6EACF928695F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05C9C86-F7CB-46DA-9DB4-C81E9EF1C3BD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42ADFCB-20DE-4FB5-9D57-8365D99924AD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66" name="PlaceHolder 4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ADF8191-96A6-4866-B319-569BDABAFD88}" type="slidenum">
              <a:rPr lang="en-US" sz="1200" b="0" u="none" strike="noStrike">
                <a:solidFill>
                  <a:schemeClr val="dk2"/>
                </a:solidFill>
                <a:effectLst/>
                <a:uFillTx/>
                <a:latin typeface="Franklin Gothic Book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lionweb.io/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70" name="Freeform: Shape 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4560" y="0"/>
            <a:ext cx="9962640" cy="6857640"/>
          </a:xfrm>
          <a:custGeom>
            <a:avLst/>
            <a:gdLst>
              <a:gd name="textAreaLeft" fmla="*/ 0 w 9962640"/>
              <a:gd name="textAreaRight" fmla="*/ 9963000 w 9962640"/>
              <a:gd name="textAreaTop" fmla="*/ 0 h 6857640"/>
              <a:gd name="textAreaBottom" fmla="*/ 6858000 h 6857640"/>
              <a:gd name="GluePoint1X" fmla="*/ 1595771 w 9963150"/>
              <a:gd name="GluePoint1Y" fmla="*/ 0 h 6858000"/>
              <a:gd name="GluePoint2X" fmla="*/ 8367379 w 9963150"/>
              <a:gd name="GluePoint2Y" fmla="*/ 0 h 6858000"/>
              <a:gd name="GluePoint3X" fmla="*/ 8504080 w 9963150"/>
              <a:gd name="GluePoint3Y" fmla="*/ 130333 h 6858000"/>
              <a:gd name="GluePoint4X" fmla="*/ 9963150 w 9963150"/>
              <a:gd name="GluePoint4Y" fmla="*/ 3652838 h 6858000"/>
              <a:gd name="GluePoint5X" fmla="*/ 8825600 w 9963150"/>
              <a:gd name="GluePoint5Y" fmla="*/ 6821583 h 6858000"/>
              <a:gd name="GluePoint6X" fmla="*/ 8794055 w 9963150"/>
              <a:gd name="GluePoint6Y" fmla="*/ 6858000 h 6858000"/>
              <a:gd name="GluePoint7X" fmla="*/ 1169096 w 9963150"/>
              <a:gd name="GluePoint7Y" fmla="*/ 6858000 h 6858000"/>
              <a:gd name="GluePoint8X" fmla="*/ 1137550 w 9963150"/>
              <a:gd name="GluePoint8Y" fmla="*/ 6821583 h 6858000"/>
              <a:gd name="GluePoint9X" fmla="*/ 0 w 9963150"/>
              <a:gd name="GluePoint9Y" fmla="*/ 3652838 h 6858000"/>
              <a:gd name="GluePoint10X" fmla="*/ 1459070 w 9963150"/>
              <a:gd name="GluePoint10Y" fmla="*/ 130333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68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71" name="Freeform: Shape 9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1760" y="0"/>
            <a:ext cx="9948240" cy="6857640"/>
          </a:xfrm>
          <a:custGeom>
            <a:avLst/>
            <a:gdLst>
              <a:gd name="textAreaLeft" fmla="*/ 0 w 9948240"/>
              <a:gd name="textAreaRight" fmla="*/ 9948600 w 9948240"/>
              <a:gd name="textAreaTop" fmla="*/ 0 h 6857640"/>
              <a:gd name="textAreaBottom" fmla="*/ 6858000 h 6857640"/>
              <a:gd name="GluePoint1X" fmla="*/ 1595771 w 9963150"/>
              <a:gd name="GluePoint1Y" fmla="*/ 0 h 6858000"/>
              <a:gd name="GluePoint2X" fmla="*/ 8367379 w 9963150"/>
              <a:gd name="GluePoint2Y" fmla="*/ 0 h 6858000"/>
              <a:gd name="GluePoint3X" fmla="*/ 8504080 w 9963150"/>
              <a:gd name="GluePoint3Y" fmla="*/ 130333 h 6858000"/>
              <a:gd name="GluePoint4X" fmla="*/ 9963150 w 9963150"/>
              <a:gd name="GluePoint4Y" fmla="*/ 3652838 h 6858000"/>
              <a:gd name="GluePoint5X" fmla="*/ 8825600 w 9963150"/>
              <a:gd name="GluePoint5Y" fmla="*/ 6821583 h 6858000"/>
              <a:gd name="GluePoint6X" fmla="*/ 8794055 w 9963150"/>
              <a:gd name="GluePoint6Y" fmla="*/ 6858000 h 6858000"/>
              <a:gd name="GluePoint7X" fmla="*/ 1169096 w 9963150"/>
              <a:gd name="GluePoint7Y" fmla="*/ 6858000 h 6858000"/>
              <a:gd name="GluePoint8X" fmla="*/ 1137550 w 9963150"/>
              <a:gd name="GluePoint8Y" fmla="*/ 6821583 h 6858000"/>
              <a:gd name="GluePoint9X" fmla="*/ 0 w 9963150"/>
              <a:gd name="GluePoint9Y" fmla="*/ 3652838 h 6858000"/>
              <a:gd name="GluePoint10X" fmla="*/ 1459070 w 9963150"/>
              <a:gd name="GluePoint10Y" fmla="*/ 130333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999440"/>
            <a:ext cx="9143640" cy="276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7200" b="0" u="none" strike="noStrike" cap="all">
                <a:solidFill>
                  <a:schemeClr val="dk1"/>
                </a:solidFill>
                <a:effectLst/>
                <a:uFillTx/>
                <a:latin typeface="Franklin Gothic Book"/>
              </a:rPr>
              <a:t>Making DSLs conversable</a:t>
            </a:r>
            <a:endParaRPr lang="en-US" sz="7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967040" y="5645160"/>
            <a:ext cx="8257680" cy="63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Krishna Narasimhan, F1RE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9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18440" y="5524920"/>
            <a:ext cx="4754520" cy="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75" name="Picture 6"/>
          <p:cNvPicPr/>
          <p:nvPr/>
        </p:nvPicPr>
        <p:blipFill>
          <a:blip r:embed="rId2"/>
          <a:stretch/>
        </p:blipFill>
        <p:spPr>
          <a:xfrm>
            <a:off x="10175040" y="223920"/>
            <a:ext cx="1643760" cy="502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2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4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5B6B4-2594-3BBD-5255-7C467CC5C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123601"/>
            <a:ext cx="9600480" cy="609398"/>
          </a:xfrm>
        </p:spPr>
        <p:txBody>
          <a:bodyPr/>
          <a:lstStyle/>
          <a:p>
            <a:r>
              <a:rPr lang="en-US" dirty="0"/>
              <a:t>BEAT introduction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46DE5-7629-11A2-EDEF-40B336AC58B4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 dirty="0"/>
              <a:t>Here some slides on how we used model-driven engineering as a solution to help out the BEAT guys. </a:t>
            </a:r>
          </a:p>
        </p:txBody>
      </p:sp>
    </p:spTree>
    <p:extLst>
      <p:ext uri="{BB962C8B-B14F-4D97-AF65-F5344CB8AC3E}">
        <p14:creationId xmlns:p14="http://schemas.microsoft.com/office/powerpoint/2010/main" val="3805431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9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77" name="Freeform: Shape 9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78" name="Freeform: Shape 9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DSLs are great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10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10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Provide reliable world model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Capture business rules precisely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Enable formal verification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Makes domain logic maintainable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Picture 6"/>
          <p:cNvPicPr/>
          <p:nvPr/>
        </p:nvPicPr>
        <p:blipFill>
          <a:blip r:embed="rId2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9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85" name="Freeform: Shape 10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86" name="Freeform: Shape 1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But, they have an accessibility issue	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DSL syntax can be difficult to master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Can require special editors and/ or plugins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Limited documentation and tooling support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Steep learning curve before productivity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Picture 5"/>
          <p:cNvPicPr/>
          <p:nvPr/>
        </p:nvPicPr>
        <p:blipFill>
          <a:blip r:embed="rId2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1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93" name="Freeform: Shape 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94" name="Freeform: Shape 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LLMs ≠ Domain Understanding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10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Understands words, not domain structure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Can confuse entities and relationships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No schema or rule awareness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Sounds right, can act wrong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Example: “Add a race with all team members” → mismatched or duplicate entries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4"/>
          <p:cNvPicPr/>
          <p:nvPr/>
        </p:nvPicPr>
        <p:blipFill>
          <a:blip r:embed="rId2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10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01" name="Freeform: Shape 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02" name="Freeform: Shape 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LLMs ≠ Domain Understanding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10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Understands words, not domain structure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Can confuse entities and relationships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No schema or rule awareness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Sounds right, can act wrong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7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Example: “Add a race with all team members” → mismatched or duplicate entries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7" name="Picture 4"/>
          <p:cNvPicPr/>
          <p:nvPr/>
        </p:nvPicPr>
        <p:blipFill>
          <a:blip r:embed="rId2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Rectangle 5"/>
          <p:cNvSpPr/>
          <p:nvPr/>
        </p:nvSpPr>
        <p:spPr>
          <a:xfrm>
            <a:off x="511920" y="5925240"/>
            <a:ext cx="917784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GB" sz="30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“LLMs can talk, but they don’t understand the domain.”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5"/>
          <p:cNvSpPr/>
          <p:nvPr/>
        </p:nvSpPr>
        <p:spPr>
          <a:xfrm rot="21043800">
            <a:off x="874440" y="3394440"/>
            <a:ext cx="975024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GB" sz="3000" b="1" u="none" strike="noStrike">
                <a:solidFill>
                  <a:schemeClr val="lt1"/>
                </a:solidFill>
                <a:effectLst/>
                <a:highlight>
                  <a:srgbClr val="000000"/>
                </a:highlight>
                <a:uFillTx/>
                <a:latin typeface="Franklin Gothic Book"/>
              </a:rPr>
              <a:t>“LLMs can talk, but they don’t understand the domain.”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11" name="Rectangle 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8360" y="0"/>
            <a:ext cx="11167200" cy="201852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760" dist="37674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12" name="Rectangle 10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7000" y="0"/>
            <a:ext cx="11155320" cy="201132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Can we combine them?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8960" y="758880"/>
            <a:ext cx="127800" cy="70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1115640" y="2481840"/>
            <a:ext cx="1016784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22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LLMs → accessible, natural, but unreliable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22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DSLs → reliable, structured, but hard to access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22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Can we get both — natural input and trusted execution?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22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What would that system look like?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10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17" name="Freeform: Shape 10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18" name="Freeform: Shape 1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Best of both worlds – Separation of concerns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1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1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LLMs offer accessibility — natural, flexible, easy for anyone to use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DSLs offer reliability — structured, validated, rule-bound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What if each did what it’s best at?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LLMs understand intent → DSLs ensure correct execution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Together: Conversational DSLs — natural input with guaranteed validity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3" name="Picture 4"/>
          <p:cNvPicPr/>
          <p:nvPr/>
        </p:nvPicPr>
        <p:blipFill>
          <a:blip r:embed="rId2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25" name="Freeform: Shape 1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26" name="Freeform: Shape 1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Demo (first part - to show how the envisioned system could look like)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1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1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Making the point “If we could use natural language to interact with the underlying model, this is what it would look like”.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Show how an input like this results in model change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““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Let's set up the cycling team for next season. Create a rider named Erkan Dikan from Turkey aged 23. Create another rider Priya from Germany. Also create Team SkyIN from India with a budget of 20 million founded in 2010.”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0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None/>
              <a:tabLst>
                <a:tab pos="0" algn="l"/>
              </a:tabLst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1" name="Picture 4"/>
          <p:cNvPicPr/>
          <p:nvPr/>
        </p:nvPicPr>
        <p:blipFill>
          <a:blip r:embed="rId2"/>
          <a:stretch/>
        </p:blipFill>
        <p:spPr>
          <a:xfrm>
            <a:off x="4901040" y="1757520"/>
            <a:ext cx="6921720" cy="3443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" name="Rectangle 1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33" name="Freeform: Shape 1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34" name="Freeform: Shape 1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Keeping roles separate with Connector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1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1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The LLM never directly knows the domain structure.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The DSL defines the schema and logic.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The Connector exposes domain concepts (Rider, Team, Race, etc.) and actions (create, modify, find) to the LLM — but in a controlled way, with metadata like: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1" indent="-384120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en-GB" sz="1300" b="0" i="1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natural language aliases,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1" indent="-384120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en-GB" sz="1300" b="0" i="1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clarification questions,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1" indent="-384120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en-GB" sz="1300" b="0" i="1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input types,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1" indent="-384120" defTabSz="914400">
              <a:lnSpc>
                <a:spcPct val="90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lang="en-GB" sz="1300" b="0" i="1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parameter requirements.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9" name="Picture 2"/>
          <p:cNvPicPr/>
          <p:nvPr/>
        </p:nvPicPr>
        <p:blipFill>
          <a:blip r:embed="rId2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0" name="Rectangle 1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41" name="Freeform: Shape 1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42" name="Freeform: Shape 1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High level system design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1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1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The LLM extracts the task and parameter values from natural language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The Connector constrains the interaction to known tasks and parameters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Missing details trigger clarification prompts back to the user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The DSL Engine executes the validated action on the domain model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The Domain Model remains the single source of truth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7" name="Picture 2"/>
          <p:cNvPicPr/>
          <p:nvPr/>
        </p:nvPicPr>
        <p:blipFill>
          <a:blip r:embed="rId2"/>
          <a:stretch/>
        </p:blipFill>
        <p:spPr>
          <a:xfrm>
            <a:off x="4901040" y="1168920"/>
            <a:ext cx="6921720" cy="4620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7B8DE-52C0-B210-E50E-0ECD1C841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0" name="Rectangle 116">
            <a:extLst>
              <a:ext uri="{FF2B5EF4-FFF2-40B4-BE49-F238E27FC236}">
                <a16:creationId xmlns:a16="http://schemas.microsoft.com/office/drawing/2014/main" id="{4385F2E4-01C4-E6F8-09D2-47D337413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41" name="Freeform: Shape 118">
            <a:extLst>
              <a:ext uri="{FF2B5EF4-FFF2-40B4-BE49-F238E27FC236}">
                <a16:creationId xmlns:a16="http://schemas.microsoft.com/office/drawing/2014/main" id="{CFB413F9-1E9F-1934-2D01-7AB5E6D8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55360" cy="6857640"/>
          </a:xfrm>
          <a:custGeom>
            <a:avLst/>
            <a:gdLst>
              <a:gd name="textAreaLeft" fmla="*/ 0 w 4455360"/>
              <a:gd name="textAreaRight" fmla="*/ 4455720 w 4455360"/>
              <a:gd name="textAreaTop" fmla="*/ 0 h 6857640"/>
              <a:gd name="textAreaBottom" fmla="*/ 6858000 h 6857640"/>
              <a:gd name="GluePoint1X" fmla="*/ 0 w 4455673"/>
              <a:gd name="GluePoint1Y" fmla="*/ 0 h 6858000"/>
              <a:gd name="GluePoint2X" fmla="*/ 3242695 w 4455673"/>
              <a:gd name="GluePoint2Y" fmla="*/ 0 h 6858000"/>
              <a:gd name="GluePoint3X" fmla="*/ 3305678 w 4455673"/>
              <a:gd name="GluePoint3Y" fmla="*/ 69271 h 6858000"/>
              <a:gd name="GluePoint4X" fmla="*/ 4455673 w 4455673"/>
              <a:gd name="GluePoint4Y" fmla="*/ 3429000 h 6858000"/>
              <a:gd name="GluePoint5X" fmla="*/ 3305678 w 4455673"/>
              <a:gd name="GluePoint5Y" fmla="*/ 6788730 h 6858000"/>
              <a:gd name="GluePoint6X" fmla="*/ 3242695 w 4455673"/>
              <a:gd name="GluePoint6Y" fmla="*/ 6858000 h 6858000"/>
              <a:gd name="GluePoint7X" fmla="*/ 0 w 4455673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20" dist="3816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42" name="Freeform: Shape 120">
            <a:extLst>
              <a:ext uri="{FF2B5EF4-FFF2-40B4-BE49-F238E27FC236}">
                <a16:creationId xmlns:a16="http://schemas.microsoft.com/office/drawing/2014/main" id="{41E7418F-25B7-8F4C-236E-C54E31A76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446000" cy="6857640"/>
          </a:xfrm>
          <a:custGeom>
            <a:avLst/>
            <a:gdLst>
              <a:gd name="textAreaLeft" fmla="*/ 0 w 4446000"/>
              <a:gd name="textAreaRight" fmla="*/ 4446360 w 4446000"/>
              <a:gd name="textAreaTop" fmla="*/ 0 h 6857640"/>
              <a:gd name="textAreaBottom" fmla="*/ 6858000 h 6857640"/>
              <a:gd name="GluePoint1X" fmla="*/ 0 w 4446529"/>
              <a:gd name="GluePoint1Y" fmla="*/ 0 h 6858000"/>
              <a:gd name="GluePoint2X" fmla="*/ 3233551 w 4446529"/>
              <a:gd name="GluePoint2Y" fmla="*/ 0 h 6858000"/>
              <a:gd name="GluePoint3X" fmla="*/ 3296534 w 4446529"/>
              <a:gd name="GluePoint3Y" fmla="*/ 69271 h 6858000"/>
              <a:gd name="GluePoint4X" fmla="*/ 4446529 w 4446529"/>
              <a:gd name="GluePoint4Y" fmla="*/ 3429000 h 6858000"/>
              <a:gd name="GluePoint5X" fmla="*/ 3296534 w 4446529"/>
              <a:gd name="GluePoint5Y" fmla="*/ 6788730 h 6858000"/>
              <a:gd name="GluePoint6X" fmla="*/ 3233551 w 4446529"/>
              <a:gd name="GluePoint6Y" fmla="*/ 6858000 h 6858000"/>
              <a:gd name="GluePoint7X" fmla="*/ 0 w 4446529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3" name="PlaceHolder 1">
            <a:extLst>
              <a:ext uri="{FF2B5EF4-FFF2-40B4-BE49-F238E27FC236}">
                <a16:creationId xmlns:a16="http://schemas.microsoft.com/office/drawing/2014/main" id="{31D555D4-9724-4FD4-4327-AE044734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0" y="1161360"/>
            <a:ext cx="3437640" cy="123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Implementation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122">
            <a:extLst>
              <a:ext uri="{FF2B5EF4-FFF2-40B4-BE49-F238E27FC236}">
                <a16:creationId xmlns:a16="http://schemas.microsoft.com/office/drawing/2014/main" id="{32A98DD3-EC1E-39EA-644A-8FF683E82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426680"/>
            <a:ext cx="127800" cy="65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124">
            <a:extLst>
              <a:ext uri="{FF2B5EF4-FFF2-40B4-BE49-F238E27FC236}">
                <a16:creationId xmlns:a16="http://schemas.microsoft.com/office/drawing/2014/main" id="{5CCC9C89-6181-D1A6-54DA-500BAB84C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6000" y="2443320"/>
            <a:ext cx="338292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6" name="PlaceHolder 2">
            <a:extLst>
              <a:ext uri="{FF2B5EF4-FFF2-40B4-BE49-F238E27FC236}">
                <a16:creationId xmlns:a16="http://schemas.microsoft.com/office/drawing/2014/main" id="{FA6D237A-98C9-21D1-5677-4C987F2203D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71160" y="2718000"/>
            <a:ext cx="3438720" cy="320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Two referenc</a:t>
            </a: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e implementations	</a:t>
            </a: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Franklin Gothic Book"/>
              </a:rPr>
              <a:t>LionWeb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Franklin Gothic Book"/>
              </a:rPr>
              <a:t> (https://lionweb.io/)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Lark (</a:t>
            </a:r>
            <a:r>
              <a:rPr lang="en-US" sz="1400" dirty="0">
                <a:solidFill>
                  <a:schemeClr val="dk1"/>
                </a:solidFill>
                <a:latin typeface="Franklin Gothic Book"/>
                <a:hlinkClick r:id="rId2"/>
              </a:rPr>
              <a:t>https://lionweb.io/</a:t>
            </a: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)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endParaRPr lang="en-US" sz="1400" dirty="0">
              <a:solidFill>
                <a:schemeClr val="dk1"/>
              </a:solidFill>
              <a:latin typeface="Franklin Gothic Book"/>
            </a:endParaRP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Supported model hubs: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Hugging Face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dirty="0" err="1">
                <a:solidFill>
                  <a:schemeClr val="dk1"/>
                </a:solidFill>
                <a:latin typeface="Franklin Gothic Book"/>
              </a:rPr>
              <a:t>Ollama</a:t>
            </a: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 Cloud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1400" dirty="0" err="1">
                <a:solidFill>
                  <a:schemeClr val="dk1"/>
                </a:solidFill>
                <a:latin typeface="Franklin Gothic Book"/>
              </a:rPr>
              <a:t>Ollama</a:t>
            </a:r>
            <a:r>
              <a:rPr lang="en-US" sz="1400" dirty="0">
                <a:solidFill>
                  <a:schemeClr val="dk1"/>
                </a:solidFill>
                <a:latin typeface="Franklin Gothic Book"/>
              </a:rPr>
              <a:t> locally hosted</a:t>
            </a:r>
          </a:p>
          <a:p>
            <a:pPr marL="384120" indent="-384120"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Franklin Gothic Book"/>
            </a:endParaRPr>
          </a:p>
          <a:p>
            <a:pPr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</a:pP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795E56-707C-D60C-C4D3-EF17B0208D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232" y="1426680"/>
            <a:ext cx="3322320" cy="33223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654B3D-EDEA-F44E-18DC-B41119E55EC8}"/>
              </a:ext>
            </a:extLst>
          </p:cNvPr>
          <p:cNvSpPr txBox="1"/>
          <p:nvPr/>
        </p:nvSpPr>
        <p:spPr>
          <a:xfrm>
            <a:off x="5596128" y="5001550"/>
            <a:ext cx="6355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  <a:latin typeface="Consolas" panose="020B0609020204030204" pitchFamily="49" charset="0"/>
              </a:rPr>
              <a:t>https://github.com/krinara86/llm_dsl_validator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843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4" name="Rectangle 1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55" name="Rectangle 1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8360" y="0"/>
            <a:ext cx="11167200" cy="201852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760" dist="37674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 useBgFill="1">
        <p:nvSpPr>
          <p:cNvPr id="156" name="Rectangle 1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7000" y="0"/>
            <a:ext cx="11155320" cy="201132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115640" y="548640"/>
            <a:ext cx="10167840" cy="117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Demo part 2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1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8960" y="758880"/>
            <a:ext cx="127800" cy="70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1115640" y="2481840"/>
            <a:ext cx="1016784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84120" indent="-384120" defTabSz="914400">
              <a:lnSpc>
                <a:spcPct val="90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Franklin Gothic Book"/>
              </a:rPr>
              <a:t>Show multiple queries (create, modify, find) in both cycling (lionweb) and event management (lark)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4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2575</TotalTime>
  <Words>578</Words>
  <Application>Microsoft Office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Franklin Gothic Book</vt:lpstr>
      <vt:lpstr>Symbol</vt:lpstr>
      <vt:lpstr>Wingdings</vt:lpstr>
      <vt:lpstr>Office 2013 - 2022 Theme</vt:lpstr>
      <vt:lpstr>Making DSLs conversable</vt:lpstr>
      <vt:lpstr>BEAT introduction </vt:lpstr>
      <vt:lpstr>DSLs are great</vt:lpstr>
      <vt:lpstr>But, they have an accessibility issue </vt:lpstr>
      <vt:lpstr>LLMs ≠ Domain Understanding</vt:lpstr>
      <vt:lpstr>LLMs ≠ Domain Understanding</vt:lpstr>
      <vt:lpstr>Can we combine them?</vt:lpstr>
      <vt:lpstr>Best of both worlds – Separation of concerns</vt:lpstr>
      <vt:lpstr>Demo (first part - to show how the envisioned system could look like)</vt:lpstr>
      <vt:lpstr>Keeping roles separate with Connector</vt:lpstr>
      <vt:lpstr>High level system design</vt:lpstr>
      <vt:lpstr>Implementation</vt:lpstr>
      <vt:lpstr>Demo part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Tagnet Security</dc:creator>
  <dc:description/>
  <cp:lastModifiedBy>Tagnet Security</cp:lastModifiedBy>
  <cp:revision>20</cp:revision>
  <dcterms:created xsi:type="dcterms:W3CDTF">2025-10-07T13:36:30Z</dcterms:created>
  <dcterms:modified xsi:type="dcterms:W3CDTF">2025-10-09T12:55:54Z</dcterms:modified>
  <dc:language>nl-NL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12</vt:r8>
  </property>
</Properties>
</file>