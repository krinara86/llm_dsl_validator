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7" r:id="rId1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424" autoAdjust="0"/>
  </p:normalViewPr>
  <p:slideViewPr>
    <p:cSldViewPr snapToGrid="0">
      <p:cViewPr varScale="1">
        <p:scale>
          <a:sx n="83" d="100"/>
          <a:sy n="83" d="100"/>
        </p:scale>
        <p:origin x="16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8F5E5-7141-4CCF-BD2F-FFE13AD8AAE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5FE5-F8EC-448E-AB8E-D6E11F69A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Motivation behind this work: bridging accessibility and reliability in domain-specific systems.</a:t>
            </a:r>
          </a:p>
          <a:p>
            <a:endParaRPr lang="en-US" dirty="0"/>
          </a:p>
          <a:p>
            <a:r>
              <a:rPr lang="en-GB" dirty="0"/>
              <a:t>How many times have you built something powerful that no one could use?</a:t>
            </a:r>
          </a:p>
          <a:p>
            <a:r>
              <a:rPr lang="en-GB" dirty="0"/>
              <a:t>Amazing tech that is hard to use.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33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DSLs capture the </a:t>
            </a:r>
            <a:r>
              <a:rPr lang="en-GB" i="1" dirty="0"/>
              <a:t>structure and constraints</a:t>
            </a:r>
            <a:r>
              <a:rPr lang="en-GB" dirty="0"/>
              <a:t> of a domain directly — every valid operation must adhere to rules (e.g., a child cannot be added as a professional rider).</a:t>
            </a:r>
          </a:p>
          <a:p>
            <a:r>
              <a:rPr lang="en-GB" dirty="0"/>
              <a:t>Transition point: emphasize that although this makes DSLs powerful, it also makes them difficult to access for non-technical users.</a:t>
            </a:r>
          </a:p>
          <a:p>
            <a:endParaRPr lang="en-GB" dirty="0"/>
          </a:p>
          <a:p>
            <a:r>
              <a:rPr lang="en-GB" dirty="0"/>
              <a:t>Verification example: can prove no invalid states Maintenance win: change rule once, applies everywhere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BEAT Cycling Club is an ambitious pro cycling team aiming for top-tier competition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Success requires smart race planning  balancing fatigue, skill, and goals across a season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For some races, the goal isn’t always to win sometimes scoring points matters more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They needed a structured way to </a:t>
            </a:r>
            <a:r>
              <a:rPr lang="en-GB" sz="1200" b="0" u="none" strike="noStrike" dirty="0" err="1">
                <a:solidFill>
                  <a:schemeClr val="dk1"/>
                </a:solidFill>
                <a:effectLst/>
                <a:uFillTx/>
                <a:latin typeface="Franklin Gothic Book"/>
              </a:rPr>
              <a:t>analyze</a:t>
            </a: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 riders, assign races, and manage performance data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4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 scale: scraped FirstCycling.com</a:t>
            </a:r>
          </a:p>
          <a:p>
            <a:r>
              <a:rPr lang="en-GB" dirty="0"/>
              <a:t> Built sophisticated simulation engine </a:t>
            </a:r>
          </a:p>
          <a:p>
            <a:r>
              <a:rPr lang="en-GB" dirty="0"/>
              <a:t>Usability problem : watching them struggle</a:t>
            </a:r>
          </a:p>
          <a:p>
            <a:r>
              <a:rPr lang="en-GB" dirty="0"/>
              <a:t>	 Sports directors aren't coders </a:t>
            </a:r>
          </a:p>
          <a:p>
            <a:r>
              <a:rPr lang="en-GB" dirty="0"/>
              <a:t>	Risk: expensive shelf-ware </a:t>
            </a:r>
          </a:p>
          <a:p>
            <a:r>
              <a:rPr lang="en-GB" dirty="0"/>
              <a:t>	Need translation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7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time: weeks minimum </a:t>
            </a:r>
          </a:p>
          <a:p>
            <a:r>
              <a:rPr lang="en-US" dirty="0"/>
              <a:t>Tool overhead: IDE setup, plugins, configs</a:t>
            </a:r>
          </a:p>
          <a:p>
            <a:r>
              <a:rPr lang="en-US" dirty="0"/>
              <a:t> Documentation gap: who maintains DSL docs? Error messages: "Parser error at line 42" means nothing to them Productivity cliff before climbing back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33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LLMs = sophisticated autocomplete, not domain experts </a:t>
            </a:r>
          </a:p>
          <a:p>
            <a:r>
              <a:rPr lang="en-GB" dirty="0"/>
              <a:t>Example failure: "add race with all members" creates chaos No understanding of one-to-many relationships Can't enforce business rules Generates plausible-looking garbage.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92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choosing sides, combining strengths LLM handles conversation DSL handles correctness </a:t>
            </a:r>
          </a:p>
          <a:p>
            <a:r>
              <a:rPr lang="en-GB" dirty="0"/>
              <a:t>Question to audience: what would this look like?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67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Clean separation of responsibilities </a:t>
            </a:r>
          </a:p>
          <a:p>
            <a:r>
              <a:rPr lang="en-GB" dirty="0"/>
              <a:t>LLM =Conversation/ UI layer</a:t>
            </a:r>
          </a:p>
          <a:p>
            <a:r>
              <a:rPr lang="en-GB" dirty="0"/>
              <a:t> DSL = business logic layer Pipeline mental model Nobody compromises their strengths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28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Natural language, complex intent Multiple entities, one sentence System figures out the details Proper validation still happens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97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Connector similar to API contract </a:t>
            </a:r>
          </a:p>
          <a:p>
            <a:r>
              <a:rPr lang="en-GB" dirty="0"/>
              <a:t>Metadata enrichment concept Aliases handle terminology variations</a:t>
            </a:r>
          </a:p>
          <a:p>
            <a:r>
              <a:rPr lang="en-GB" dirty="0"/>
              <a:t> Type checking still enforced </a:t>
            </a:r>
          </a:p>
          <a:p>
            <a:r>
              <a:rPr lang="en-GB" dirty="0"/>
              <a:t>Required fields still required </a:t>
            </a:r>
          </a:p>
          <a:p>
            <a:r>
              <a:rPr lang="en-GB" dirty="0"/>
              <a:t>LLM can't break the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17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Walk through actual flow User input → LLM extraction </a:t>
            </a:r>
          </a:p>
          <a:p>
            <a:r>
              <a:rPr lang="en-GB" dirty="0"/>
              <a:t>Connector validation </a:t>
            </a:r>
          </a:p>
          <a:p>
            <a:r>
              <a:rPr lang="en-GB" dirty="0"/>
              <a:t>Clarification loop if needed DSL execution only if valid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23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implementations prove generality</a:t>
            </a:r>
          </a:p>
          <a:p>
            <a:endParaRPr lang="en-US" dirty="0"/>
          </a:p>
          <a:p>
            <a:r>
              <a:rPr lang="en-US" dirty="0"/>
              <a:t>End by opening the room for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7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Multiple domains working</a:t>
            </a:r>
          </a:p>
          <a:p>
            <a:r>
              <a:rPr lang="en-GB" dirty="0"/>
              <a:t> All CRUD operations</a:t>
            </a:r>
          </a:p>
          <a:p>
            <a:r>
              <a:rPr lang="en-GB" dirty="0"/>
              <a:t> Complex queries</a:t>
            </a:r>
          </a:p>
          <a:p>
            <a:r>
              <a:rPr lang="en-GB" dirty="0"/>
              <a:t> Error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E5FE5-F8EC-448E-AB8E-D6E11F69A60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FE4DB2-A758-4CF3-8AD0-7D34A3E01173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05F8F6-CA87-4775-B2EB-EAF7466BE2C2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5D502B-0E0E-46BA-9000-F695C206BAE9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371600" y="1092960"/>
            <a:ext cx="96004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9D2F0F-7596-49B9-8A23-D836346C2B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89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84120" indent="-38412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US" sz="2000" b="0" i="1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2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3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US" sz="1800" b="0" i="1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4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0FDB69-D59C-4572-A9A7-24E84BD355F1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533289-D54D-45EC-A726-B053DE4483E5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EDE435-E998-4E68-BC90-085075282F99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04C6FE-F9A4-4F59-A5DA-3AC1EFE53627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76AF0B-AC12-4265-BEFF-35F82BEA09CC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B32A0CB-CE11-4197-B18A-6EACF928695F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5C9C86-F7CB-46DA-9DB4-C81E9EF1C3BD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2ADFCB-20DE-4FB5-9D57-8365D99924AD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DF8191-96A6-4866-B319-569BDABAFD88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onweb.io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0" name="Freeform: 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560" y="0"/>
            <a:ext cx="9962640" cy="6857640"/>
          </a:xfrm>
          <a:custGeom>
            <a:avLst/>
            <a:gdLst>
              <a:gd name="textAreaLeft" fmla="*/ 0 w 9962640"/>
              <a:gd name="textAreaRight" fmla="*/ 9963000 w 9962640"/>
              <a:gd name="textAreaTop" fmla="*/ 0 h 6857640"/>
              <a:gd name="textAreaBottom" fmla="*/ 6858000 h 6857640"/>
              <a:gd name="GluePoint1X" fmla="*/ 1595771 w 9963150"/>
              <a:gd name="GluePoint1Y" fmla="*/ 0 h 6858000"/>
              <a:gd name="GluePoint2X" fmla="*/ 8367379 w 9963150"/>
              <a:gd name="GluePoint2Y" fmla="*/ 0 h 6858000"/>
              <a:gd name="GluePoint3X" fmla="*/ 8504080 w 9963150"/>
              <a:gd name="GluePoint3Y" fmla="*/ 130333 h 6858000"/>
              <a:gd name="GluePoint4X" fmla="*/ 9963150 w 9963150"/>
              <a:gd name="GluePoint4Y" fmla="*/ 3652838 h 6858000"/>
              <a:gd name="GluePoint5X" fmla="*/ 8825600 w 9963150"/>
              <a:gd name="GluePoint5Y" fmla="*/ 6821583 h 6858000"/>
              <a:gd name="GluePoint6X" fmla="*/ 8794055 w 9963150"/>
              <a:gd name="GluePoint6Y" fmla="*/ 6858000 h 6858000"/>
              <a:gd name="GluePoint7X" fmla="*/ 1169096 w 9963150"/>
              <a:gd name="GluePoint7Y" fmla="*/ 6858000 h 6858000"/>
              <a:gd name="GluePoint8X" fmla="*/ 1137550 w 9963150"/>
              <a:gd name="GluePoint8Y" fmla="*/ 6821583 h 6858000"/>
              <a:gd name="GluePoint9X" fmla="*/ 0 w 9963150"/>
              <a:gd name="GluePoint9Y" fmla="*/ 3652838 h 6858000"/>
              <a:gd name="GluePoint10X" fmla="*/ 1459070 w 9963150"/>
              <a:gd name="GluePoint10Y" fmla="*/ 130333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68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1" name="Freeform: Shape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1760" y="0"/>
            <a:ext cx="9948240" cy="6857640"/>
          </a:xfrm>
          <a:custGeom>
            <a:avLst/>
            <a:gdLst>
              <a:gd name="textAreaLeft" fmla="*/ 0 w 9948240"/>
              <a:gd name="textAreaRight" fmla="*/ 9948600 w 9948240"/>
              <a:gd name="textAreaTop" fmla="*/ 0 h 6857640"/>
              <a:gd name="textAreaBottom" fmla="*/ 6858000 h 6857640"/>
              <a:gd name="GluePoint1X" fmla="*/ 1595771 w 9963150"/>
              <a:gd name="GluePoint1Y" fmla="*/ 0 h 6858000"/>
              <a:gd name="GluePoint2X" fmla="*/ 8367379 w 9963150"/>
              <a:gd name="GluePoint2Y" fmla="*/ 0 h 6858000"/>
              <a:gd name="GluePoint3X" fmla="*/ 8504080 w 9963150"/>
              <a:gd name="GluePoint3Y" fmla="*/ 130333 h 6858000"/>
              <a:gd name="GluePoint4X" fmla="*/ 9963150 w 9963150"/>
              <a:gd name="GluePoint4Y" fmla="*/ 3652838 h 6858000"/>
              <a:gd name="GluePoint5X" fmla="*/ 8825600 w 9963150"/>
              <a:gd name="GluePoint5Y" fmla="*/ 6821583 h 6858000"/>
              <a:gd name="GluePoint6X" fmla="*/ 8794055 w 9963150"/>
              <a:gd name="GluePoint6Y" fmla="*/ 6858000 h 6858000"/>
              <a:gd name="GluePoint7X" fmla="*/ 1169096 w 9963150"/>
              <a:gd name="GluePoint7Y" fmla="*/ 6858000 h 6858000"/>
              <a:gd name="GluePoint8X" fmla="*/ 1137550 w 9963150"/>
              <a:gd name="GluePoint8Y" fmla="*/ 6821583 h 6858000"/>
              <a:gd name="GluePoint9X" fmla="*/ 0 w 9963150"/>
              <a:gd name="GluePoint9Y" fmla="*/ 3652838 h 6858000"/>
              <a:gd name="GluePoint10X" fmla="*/ 1459070 w 9963150"/>
              <a:gd name="GluePoint10Y" fmla="*/ 130333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999440"/>
            <a:ext cx="9143640" cy="276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00" b="0" u="none" strike="noStrike" cap="all">
                <a:solidFill>
                  <a:schemeClr val="dk1"/>
                </a:solidFill>
                <a:effectLst/>
                <a:uFillTx/>
                <a:latin typeface="Franklin Gothic Book"/>
              </a:rPr>
              <a:t>Making DSLs conversable</a:t>
            </a:r>
            <a:endParaRPr lang="en-US" sz="7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705168" y="5619744"/>
            <a:ext cx="8257680" cy="63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Krishna Narasimhan</a:t>
            </a:r>
            <a:r>
              <a:rPr lang="en-US" sz="2800" dirty="0">
                <a:solidFill>
                  <a:schemeClr val="dk1"/>
                </a:solidFill>
                <a:latin typeface="Franklin Gothic Book"/>
              </a:rPr>
              <a:t>, 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440" y="5524920"/>
            <a:ext cx="4754520" cy="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6"/>
          <p:cNvPicPr/>
          <p:nvPr/>
        </p:nvPicPr>
        <p:blipFill>
          <a:blip r:embed="rId3"/>
          <a:stretch/>
        </p:blipFill>
        <p:spPr>
          <a:xfrm>
            <a:off x="6829200" y="5619744"/>
            <a:ext cx="1643760" cy="502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4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7" name="Freeform: Shape 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8" name="Freeform: Shape 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are great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0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DSLs model complex domains with precision.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They ensure valid, rule-consistent operations.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Example: cycling domain model enforcing age limits or team structure.</a:t>
            </a:r>
            <a:endParaRPr lang="en-US" sz="17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6"/>
          <p:cNvPicPr/>
          <p:nvPr/>
        </p:nvPicPr>
        <p:blipFill>
          <a:blip r:embed="rId3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6833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6360" cy="685764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8000"/>
                </a:srgbClr>
              </a:gs>
              <a:gs pos="5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24800" y="980280"/>
            <a:ext cx="3437640" cy="112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Use case: </a:t>
            </a:r>
            <a:br>
              <a:rPr sz="2800"/>
            </a:b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BEAT Cyling Club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62760" y="605520"/>
            <a:ext cx="72720" cy="548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400" y="2443320"/>
            <a:ext cx="3300480" cy="8640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Talent prediction for cycling pro’s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Race results combined with secondary data (weather, location, training data, equipment)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Arial"/>
              <a:buChar char="•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Problem: 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Users without ANY tech skills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Users have very limited time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Fuzzy input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icture 1" descr="A group of people riding bicycles&#10;&#10;AI-generated content may be incorrect."/>
          <p:cNvSpPr/>
          <p:nvPr/>
        </p:nvSpPr>
        <p:spPr>
          <a:xfrm>
            <a:off x="4883040" y="0"/>
            <a:ext cx="7308720" cy="3364560"/>
          </a:xfrm>
          <a:custGeom>
            <a:avLst/>
            <a:gdLst>
              <a:gd name="textAreaLeft" fmla="*/ 0 w 7308720"/>
              <a:gd name="textAreaRight" fmla="*/ 7309080 w 7308720"/>
              <a:gd name="textAreaTop" fmla="*/ 0 h 3364560"/>
              <a:gd name="textAreaBottom" fmla="*/ 3364920 h 3364560"/>
            </a:gdLst>
            <a:ahLst/>
            <a:cxnLst/>
            <a:rect l="textAreaLeft" t="textAreaTop" r="textAreaRight" b="textAreaBottom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3" name="Picture 2" descr="A person wearing a blue helmet and cycling outfit&#10;&#10;AI-generated content may be incorrect."/>
          <p:cNvSpPr/>
          <p:nvPr/>
        </p:nvSpPr>
        <p:spPr>
          <a:xfrm>
            <a:off x="4883040" y="3493080"/>
            <a:ext cx="7308720" cy="3364560"/>
          </a:xfrm>
          <a:custGeom>
            <a:avLst/>
            <a:gdLst>
              <a:gd name="textAreaLeft" fmla="*/ 0 w 7308720"/>
              <a:gd name="textAreaRight" fmla="*/ 7309080 w 7308720"/>
              <a:gd name="textAreaTop" fmla="*/ 0 h 3364560"/>
              <a:gd name="textAreaBottom" fmla="*/ 3364920 h 3364560"/>
            </a:gdLst>
            <a:ahLst/>
            <a:cxnLst/>
            <a:rect l="textAreaLeft" t="textAreaTop" r="textAreaRight" b="textAreaBottom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5" descr="Diagram of a fire modem&#10;&#10;AI-generated content may be incorrect."/>
          <p:cNvPicPr/>
          <p:nvPr/>
        </p:nvPicPr>
        <p:blipFill>
          <a:blip r:embed="rId2"/>
          <a:srcRect l="2649" r="-2"/>
          <a:stretch/>
        </p:blipFill>
        <p:spPr>
          <a:xfrm>
            <a:off x="1801080" y="1013400"/>
            <a:ext cx="8589600" cy="4830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F498-9DD0-0797-BF43-B35471F5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95">
            <a:extLst>
              <a:ext uri="{FF2B5EF4-FFF2-40B4-BE49-F238E27FC236}">
                <a16:creationId xmlns:a16="http://schemas.microsoft.com/office/drawing/2014/main" id="{3ACA3158-4B8B-0FD0-DFE9-FB647E6EC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7" name="Freeform: Shape 97">
            <a:extLst>
              <a:ext uri="{FF2B5EF4-FFF2-40B4-BE49-F238E27FC236}">
                <a16:creationId xmlns:a16="http://schemas.microsoft.com/office/drawing/2014/main" id="{E9EFFC80-9C92-8951-3FFA-A63E1AFCC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8" name="Freeform: Shape 99">
            <a:extLst>
              <a:ext uri="{FF2B5EF4-FFF2-40B4-BE49-F238E27FC236}">
                <a16:creationId xmlns:a16="http://schemas.microsoft.com/office/drawing/2014/main" id="{A97A0C5B-1B83-7F2C-BADF-5CEF47E6B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">
            <a:extLst>
              <a:ext uri="{FF2B5EF4-FFF2-40B4-BE49-F238E27FC236}">
                <a16:creationId xmlns:a16="http://schemas.microsoft.com/office/drawing/2014/main" id="{C690355E-E8BA-5C5E-BA5F-5183BEB2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Powerful model, hard to use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01">
            <a:extLst>
              <a:ext uri="{FF2B5EF4-FFF2-40B4-BE49-F238E27FC236}">
                <a16:creationId xmlns:a16="http://schemas.microsoft.com/office/drawing/2014/main" id="{65E3194C-D2EF-07CE-0C5E-7849E3E07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03">
            <a:extLst>
              <a:ext uri="{FF2B5EF4-FFF2-40B4-BE49-F238E27FC236}">
                <a16:creationId xmlns:a16="http://schemas.microsoft.com/office/drawing/2014/main" id="{CA51A1A4-1A8A-0033-6C46-DE6A9C8E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>
            <a:extLst>
              <a:ext uri="{FF2B5EF4-FFF2-40B4-BE49-F238E27FC236}">
                <a16:creationId xmlns:a16="http://schemas.microsoft.com/office/drawing/2014/main" id="{11C96FAF-2F63-B432-DC38-9058E9D9478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We built a DSL-based model using race and rider data from FirstCycling.com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The model lets them simulate team composition and season strategies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But the BEAT staff aren’t techies - the DSL and its tools were too complex to use directly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They needed a conversational interface: a way to “talk” to the model instead of coding</a:t>
            </a:r>
            <a:endParaRPr lang="en-US" sz="17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FA9E8-942A-A6C1-1CA4-C2271E618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88" y="1386408"/>
            <a:ext cx="4538472" cy="453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8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5" name="Freeform: Shape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6" name="Freeform: Shap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Accessibility issue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Complex syntax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Special tooling required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Limited documentation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Franklin Gothic Book"/>
              </a:rPr>
              <a:t>Steep learning curve</a:t>
            </a:r>
            <a:endParaRPr lang="en-US" sz="17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083CBF-46F9-DE76-327B-2738C1BA5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88" y="1386408"/>
            <a:ext cx="4538472" cy="4538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93" name="Freeform: Shap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94" name="Freeform: Shap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≠ Domain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Calibri"/>
              </a:rPr>
              <a:t>Words, not structure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Calibri"/>
              </a:rPr>
              <a:t>Confuses relationships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Calibri"/>
              </a:rPr>
              <a:t>No rule awareness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dirty="0">
                <a:solidFill>
                  <a:schemeClr val="dk1"/>
                </a:solidFill>
                <a:latin typeface="Calibri"/>
              </a:rPr>
              <a:t>Sounds right, acts wrong</a:t>
            </a:r>
            <a:endParaRPr lang="en-US" sz="17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4"/>
          <p:cNvPicPr/>
          <p:nvPr/>
        </p:nvPicPr>
        <p:blipFill>
          <a:blip r:embed="rId3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01" name="Freeform: Shap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02" name="Freeform: Shap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≠ Domain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Understands words, not domain structure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confuse entities and relationships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No schema or rule awareness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Sounds right, can act wrong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Example: “Add a race with all team members” → mismatched or duplicate entries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4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5"/>
          <p:cNvSpPr/>
          <p:nvPr/>
        </p:nvSpPr>
        <p:spPr>
          <a:xfrm rot="21043800">
            <a:off x="874440" y="3394440"/>
            <a:ext cx="97502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GB" sz="3000" b="1" u="none" strike="noStrike" dirty="0">
                <a:solidFill>
                  <a:schemeClr val="lt1"/>
                </a:solidFill>
                <a:effectLst/>
                <a:highlight>
                  <a:srgbClr val="000000"/>
                </a:highlight>
                <a:uFillTx/>
                <a:latin typeface="Franklin Gothic Book"/>
              </a:rPr>
              <a:t>“LLMs can talk, but they don’t understand the domain.”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1" name="Rectangl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760" dist="37674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2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we combine them?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960" y="758880"/>
            <a:ext cx="127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115640" y="2481840"/>
            <a:ext cx="10167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→ accessible, natural, but unreliable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→ reliable, structured, but hard to access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we get both — natural input and trusted execution?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What would that system look like?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7" name="Freeform: Shape 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8" name="Freeform: Shape 1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Best of both worlds – Separation of concerns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offer accessibility — natural, flexible, easy for anyone to use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offer reliability — structured, validated, rule-bound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What if each did what it’s best at?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understand intent → DSLs ensure correct execution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Together: Conversational DSLs — natural input with guaranteed validity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4"/>
          <p:cNvPicPr/>
          <p:nvPr/>
        </p:nvPicPr>
        <p:blipFill>
          <a:blip r:embed="rId3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25" name="Freeform: Shape 1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26" name="Freeform: Shape 1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Demo (first part - to show how the envisioned system could look like)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Making the point “If we could use natural language to interact with the underlying model, this is what it would look like”.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Show how an input like this results in model change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““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Let's set up the cycling team for next season. Create a rider named Erkan Dikan from Turkey aged 23. Create another rider Priya from Germany. Also create Team SkyIN from India with a budget of 20 million founded in 2010.”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4"/>
          <p:cNvPicPr/>
          <p:nvPr/>
        </p:nvPicPr>
        <p:blipFill>
          <a:blip r:embed="rId3"/>
          <a:stretch/>
        </p:blipFill>
        <p:spPr>
          <a:xfrm>
            <a:off x="4901040" y="1757520"/>
            <a:ext cx="6921720" cy="3443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33" name="Freeform: Shape 1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34" name="Freeform: Shape 1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Keeping roles separate with Connector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dirty="0">
                <a:solidFill>
                  <a:schemeClr val="dk1"/>
                </a:solidFill>
                <a:latin typeface="Franklin Gothic Book"/>
              </a:rPr>
              <a:t>LLM never touches domain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dirty="0">
                <a:solidFill>
                  <a:schemeClr val="dk1"/>
                </a:solidFill>
                <a:latin typeface="Franklin Gothic Book"/>
              </a:rPr>
              <a:t>DSL defines all rules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dirty="0">
                <a:solidFill>
                  <a:schemeClr val="dk1"/>
                </a:solidFill>
                <a:latin typeface="Franklin Gothic Book"/>
              </a:rPr>
              <a:t>Connector bridges the gap</a:t>
            </a:r>
            <a:r>
              <a:rPr lang="en-GB" sz="1300" b="0" i="1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.</a:t>
            </a:r>
            <a:endParaRPr lang="en-US" sz="13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2"/>
          <p:cNvPicPr/>
          <p:nvPr/>
        </p:nvPicPr>
        <p:blipFill>
          <a:blip r:embed="rId3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1" name="Freeform: Shap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2" name="Freeform: Shape 1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High level system design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dirty="0">
                <a:solidFill>
                  <a:schemeClr val="dk1"/>
                </a:solidFill>
                <a:latin typeface="Franklin Gothic Book"/>
              </a:rPr>
              <a:t>LLM extracts intent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dirty="0">
                <a:solidFill>
                  <a:schemeClr val="dk1"/>
                </a:solidFill>
                <a:latin typeface="Franklin Gothic Book"/>
              </a:rPr>
              <a:t>Connector validates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dirty="0">
                <a:solidFill>
                  <a:schemeClr val="dk1"/>
                </a:solidFill>
                <a:latin typeface="Franklin Gothic Book"/>
              </a:rPr>
              <a:t>Missing info → clarification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dirty="0">
                <a:solidFill>
                  <a:schemeClr val="dk1"/>
                </a:solidFill>
                <a:latin typeface="Franklin Gothic Book"/>
              </a:rPr>
              <a:t>DSL executes valid actions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dirty="0">
                <a:solidFill>
                  <a:schemeClr val="dk1"/>
                </a:solidFill>
                <a:latin typeface="Franklin Gothic Book"/>
              </a:rPr>
              <a:t>Domain model = source of truth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2"/>
          <p:cNvPicPr/>
          <p:nvPr/>
        </p:nvPicPr>
        <p:blipFill>
          <a:blip r:embed="rId3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B8DE-52C0-B210-E50E-0ECD1C84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16">
            <a:extLst>
              <a:ext uri="{FF2B5EF4-FFF2-40B4-BE49-F238E27FC236}">
                <a16:creationId xmlns:a16="http://schemas.microsoft.com/office/drawing/2014/main" id="{4385F2E4-01C4-E6F8-09D2-47D337413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1" name="Freeform: Shape 118">
            <a:extLst>
              <a:ext uri="{FF2B5EF4-FFF2-40B4-BE49-F238E27FC236}">
                <a16:creationId xmlns:a16="http://schemas.microsoft.com/office/drawing/2014/main" id="{CFB413F9-1E9F-1934-2D01-7AB5E6D8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2" name="Freeform: Shape 120">
            <a:extLst>
              <a:ext uri="{FF2B5EF4-FFF2-40B4-BE49-F238E27FC236}">
                <a16:creationId xmlns:a16="http://schemas.microsoft.com/office/drawing/2014/main" id="{41E7418F-25B7-8F4C-236E-C54E31A76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1">
            <a:extLst>
              <a:ext uri="{FF2B5EF4-FFF2-40B4-BE49-F238E27FC236}">
                <a16:creationId xmlns:a16="http://schemas.microsoft.com/office/drawing/2014/main" id="{31D555D4-9724-4FD4-4327-AE044734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Implementation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22">
            <a:extLst>
              <a:ext uri="{FF2B5EF4-FFF2-40B4-BE49-F238E27FC236}">
                <a16:creationId xmlns:a16="http://schemas.microsoft.com/office/drawing/2014/main" id="{32A98DD3-EC1E-39EA-644A-8FF683E82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24">
            <a:extLst>
              <a:ext uri="{FF2B5EF4-FFF2-40B4-BE49-F238E27FC236}">
                <a16:creationId xmlns:a16="http://schemas.microsoft.com/office/drawing/2014/main" id="{5CCC9C89-6181-D1A6-54DA-500BAB84C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>
            <a:extLst>
              <a:ext uri="{FF2B5EF4-FFF2-40B4-BE49-F238E27FC236}">
                <a16:creationId xmlns:a16="http://schemas.microsoft.com/office/drawing/2014/main" id="{FA6D237A-98C9-21D1-5677-4C987F2203D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Two referenc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e implementations	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Franklin Gothic Book"/>
              </a:rPr>
              <a:t>LionWeb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 (https://lionweb.io/)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Lark (</a:t>
            </a:r>
            <a:r>
              <a:rPr lang="en-US" sz="1400" dirty="0">
                <a:solidFill>
                  <a:schemeClr val="dk1"/>
                </a:solidFill>
                <a:latin typeface="Franklin Gothic Book"/>
                <a:hlinkClick r:id="rId3"/>
              </a:rPr>
              <a:t>https://lionweb.io/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)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endParaRPr lang="en-US" sz="1400" dirty="0">
              <a:solidFill>
                <a:schemeClr val="dk1"/>
              </a:solidFill>
              <a:latin typeface="Franklin Gothic Book"/>
            </a:endParaRP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Supported model hubs: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Hugging Face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 err="1">
                <a:solidFill>
                  <a:schemeClr val="dk1"/>
                </a:solidFill>
                <a:latin typeface="Franklin Gothic Book"/>
              </a:rPr>
              <a:t>Ollama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 Cloud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 err="1">
                <a:solidFill>
                  <a:schemeClr val="dk1"/>
                </a:solidFill>
                <a:latin typeface="Franklin Gothic Book"/>
              </a:rPr>
              <a:t>Ollama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 locally hosted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Franklin Gothic Book"/>
            </a:endParaRPr>
          </a:p>
          <a:p>
            <a:pPr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50" name="Picture 2" descr="15 Clarifying Questions That Add Value to Customer Support Conversations">
            <a:extLst>
              <a:ext uri="{FF2B5EF4-FFF2-40B4-BE49-F238E27FC236}">
                <a16:creationId xmlns:a16="http://schemas.microsoft.com/office/drawing/2014/main" id="{FB9A2966-7228-FA10-5705-3F50EA837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351" y="1892580"/>
            <a:ext cx="6156975" cy="355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84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55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760" dist="37674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56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Demo part 2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960" y="758880"/>
            <a:ext cx="127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115640" y="2481840"/>
            <a:ext cx="10167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Show multiple queries (create, modify, find) in both cycling (lionweb) and event management (lark)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4201</TotalTime>
  <Words>940</Words>
  <Application>Microsoft Office PowerPoint</Application>
  <PresentationFormat>Widescreen</PresentationFormat>
  <Paragraphs>128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Symbol</vt:lpstr>
      <vt:lpstr>Wingdings</vt:lpstr>
      <vt:lpstr>Office 2013 - 2022 Theme</vt:lpstr>
      <vt:lpstr>Making DSLs conversable</vt:lpstr>
      <vt:lpstr>DSLs are great</vt:lpstr>
      <vt:lpstr>Use case:  BEAT Cyling Club </vt:lpstr>
      <vt:lpstr>PowerPoint Presentation</vt:lpstr>
      <vt:lpstr>Powerful model, hard to use</vt:lpstr>
      <vt:lpstr>Accessibility issue</vt:lpstr>
      <vt:lpstr>LLMs ≠ Domain Understanding</vt:lpstr>
      <vt:lpstr>LLMs ≠ Domain Understanding</vt:lpstr>
      <vt:lpstr>Can we combine them?</vt:lpstr>
      <vt:lpstr>Best of both worlds – Separation of concerns</vt:lpstr>
      <vt:lpstr>Demo (first part - to show how the envisioned system could look like)</vt:lpstr>
      <vt:lpstr>Keeping roles separate with Connector</vt:lpstr>
      <vt:lpstr>High level system design</vt:lpstr>
      <vt:lpstr>Implementation</vt:lpstr>
      <vt:lpstr>Demo part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Tagnet Security</dc:creator>
  <dc:description/>
  <cp:lastModifiedBy>Tagnet Security</cp:lastModifiedBy>
  <cp:revision>58</cp:revision>
  <dcterms:created xsi:type="dcterms:W3CDTF">2025-10-07T13:36:30Z</dcterms:created>
  <dcterms:modified xsi:type="dcterms:W3CDTF">2025-10-13T11:01:43Z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12</vt:r8>
  </property>
</Properties>
</file>