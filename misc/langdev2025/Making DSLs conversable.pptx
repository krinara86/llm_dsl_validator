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70" r:id="rId4"/>
    <p:sldId id="269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8" r:id="rId14"/>
    <p:sldId id="267" r:id="rId15"/>
  </p:sldIdLst>
  <p:sldSz cx="12192000" cy="6858000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nl-NL" sz="1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9FE4DB2-A758-4CF3-8AD0-7D34A3E01173}" type="slidenum">
              <a: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nl-NL" sz="1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E05F8F6-CA87-4775-B2EB-EAF7466BE2C2}" type="slidenum">
              <a: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nl-NL" sz="1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05D502B-0E0E-46BA-9000-F695C206BAE9}" type="slidenum">
              <a: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1371600" y="1092960"/>
            <a:ext cx="960048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39D2F0F-7596-49B9-8A23-D836346C2B3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&lt;date/time&gt;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89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2"/>
                </a:solidFill>
                <a:effectLst/>
                <a:uFillTx/>
                <a:latin typeface="Franklin Gothic Book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84120" indent="-384120" defTabSz="91440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US" sz="2000" b="0" u="none" strike="noStrike">
                <a:solidFill>
                  <a:schemeClr val="dk2"/>
                </a:solidFill>
                <a:effectLst/>
                <a:uFillTx/>
                <a:latin typeface="Franklin Gothic Book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1" indent="-384120" defTabSz="914400">
              <a:lnSpc>
                <a:spcPct val="94000"/>
              </a:lnSpc>
              <a:spcBef>
                <a:spcPts val="499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–"/>
            </a:pPr>
            <a:r>
              <a:rPr lang="en-US" sz="2000" b="0" i="1" u="none" strike="noStrike">
                <a:solidFill>
                  <a:schemeClr val="dk2"/>
                </a:solidFill>
                <a:effectLst/>
                <a:uFillTx/>
                <a:latin typeface="Franklin Gothic Book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2" indent="-384120" defTabSz="914400">
              <a:lnSpc>
                <a:spcPct val="94000"/>
              </a:lnSpc>
              <a:spcBef>
                <a:spcPts val="499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US" sz="1800" b="0" u="none" strike="noStrike">
                <a:solidFill>
                  <a:schemeClr val="dk2"/>
                </a:solidFill>
                <a:effectLst/>
                <a:uFillTx/>
                <a:latin typeface="Franklin Gothic Book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3" indent="-384120" defTabSz="914400">
              <a:lnSpc>
                <a:spcPct val="94000"/>
              </a:lnSpc>
              <a:spcBef>
                <a:spcPts val="499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–"/>
            </a:pPr>
            <a:r>
              <a:rPr lang="en-US" sz="1800" b="0" i="1" u="none" strike="noStrike">
                <a:solidFill>
                  <a:schemeClr val="dk2"/>
                </a:solidFill>
                <a:effectLst/>
                <a:uFillTx/>
                <a:latin typeface="Franklin Gothic Book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4" indent="-384120" defTabSz="914400">
              <a:lnSpc>
                <a:spcPct val="94000"/>
              </a:lnSpc>
              <a:spcBef>
                <a:spcPts val="499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Franklin Gothic Book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nl-NL" sz="1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B0FDB69-D59C-4572-A9A7-24E84BD355F1}" type="slidenum">
              <a: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nl-NL" sz="1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63533289-D54D-45EC-A726-B053DE4483E5}" type="slidenum">
              <a: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nl-NL" sz="1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DEDE435-E998-4E68-BC90-085075282F99}" type="slidenum">
              <a: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9" name="PlaceHolder 4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nl-NL" sz="1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5604C6FE-F9A4-4F59-A5DA-3AC1EFE53627}" type="slidenum">
              <a: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45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47" name="PlaceHolder 6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7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nl-NL" sz="1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9" name="PlaceHolder 8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B76AF0B-AC12-4265-BEFF-35F82BEA09CC}" type="slidenum">
              <a: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nl-NL" sz="1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B32A0CB-CE11-4197-B18A-6EACF928695F}" type="slidenum">
              <a: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nl-NL" sz="1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805C9C86-F7CB-46DA-9DB4-C81E9EF1C3BD}" type="slidenum">
              <a: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60" name="PlaceHolder 4"/>
          <p:cNvSpPr>
            <a:spLocks noGrp="1"/>
          </p:cNvSpPr>
          <p:nvPr>
            <p:ph type="dt" idx="3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61" name="PlaceHolder 5"/>
          <p:cNvSpPr>
            <a:spLocks noGrp="1"/>
          </p:cNvSpPr>
          <p:nvPr>
            <p:ph type="ftr" idx="3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nl-NL" sz="1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sldNum" idx="3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42ADFCB-20DE-4FB5-9D57-8365D99924AD}" type="slidenum">
              <a: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icon to add picture</a:t>
            </a: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66" name="PlaceHolder 4"/>
          <p:cNvSpPr>
            <a:spLocks noGrp="1"/>
          </p:cNvSpPr>
          <p:nvPr>
            <p:ph type="dt" idx="3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ftr" idx="3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nl-NL" sz="1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68" name="PlaceHolder 6"/>
          <p:cNvSpPr>
            <a:spLocks noGrp="1"/>
          </p:cNvSpPr>
          <p:nvPr>
            <p:ph type="sldNum" idx="3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ADF8191-96A6-4866-B319-569BDABAFD88}" type="slidenum">
              <a:rPr lang="en-US" sz="1200" b="0" u="none" strike="noStrike">
                <a:solidFill>
                  <a:schemeClr val="dk2"/>
                </a:solidFill>
                <a:effectLst/>
                <a:uFillTx/>
                <a:latin typeface="Franklin Gothic Book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lionweb.io/" TargetMode="Externa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9" name="Rectangle 9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 useBgFill="1">
        <p:nvSpPr>
          <p:cNvPr id="70" name="Freeform: Shape 9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14560" y="0"/>
            <a:ext cx="9962640" cy="6857640"/>
          </a:xfrm>
          <a:custGeom>
            <a:avLst/>
            <a:gdLst>
              <a:gd name="textAreaLeft" fmla="*/ 0 w 9962640"/>
              <a:gd name="textAreaRight" fmla="*/ 9963000 w 9962640"/>
              <a:gd name="textAreaTop" fmla="*/ 0 h 6857640"/>
              <a:gd name="textAreaBottom" fmla="*/ 6858000 h 6857640"/>
              <a:gd name="GluePoint1X" fmla="*/ 1595771 w 9963150"/>
              <a:gd name="GluePoint1Y" fmla="*/ 0 h 6858000"/>
              <a:gd name="GluePoint2X" fmla="*/ 8367379 w 9963150"/>
              <a:gd name="GluePoint2Y" fmla="*/ 0 h 6858000"/>
              <a:gd name="GluePoint3X" fmla="*/ 8504080 w 9963150"/>
              <a:gd name="GluePoint3Y" fmla="*/ 130333 h 6858000"/>
              <a:gd name="GluePoint4X" fmla="*/ 9963150 w 9963150"/>
              <a:gd name="GluePoint4Y" fmla="*/ 3652838 h 6858000"/>
              <a:gd name="GluePoint5X" fmla="*/ 8825600 w 9963150"/>
              <a:gd name="GluePoint5Y" fmla="*/ 6821583 h 6858000"/>
              <a:gd name="GluePoint6X" fmla="*/ 8794055 w 9963150"/>
              <a:gd name="GluePoint6Y" fmla="*/ 6858000 h 6858000"/>
              <a:gd name="GluePoint7X" fmla="*/ 1169096 w 9963150"/>
              <a:gd name="GluePoint7Y" fmla="*/ 6858000 h 6858000"/>
              <a:gd name="GluePoint8X" fmla="*/ 1137550 w 9963150"/>
              <a:gd name="GluePoint8Y" fmla="*/ 6821583 h 6858000"/>
              <a:gd name="GluePoint9X" fmla="*/ 0 w 9963150"/>
              <a:gd name="GluePoint9Y" fmla="*/ 3652838 h 6858000"/>
              <a:gd name="GluePoint10X" fmla="*/ 1459070 w 9963150"/>
              <a:gd name="GluePoint10Y" fmla="*/ 130333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68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 useBgFill="1">
        <p:nvSpPr>
          <p:cNvPr id="71" name="Freeform: Shape 9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21760" y="0"/>
            <a:ext cx="9948240" cy="6857640"/>
          </a:xfrm>
          <a:custGeom>
            <a:avLst/>
            <a:gdLst>
              <a:gd name="textAreaLeft" fmla="*/ 0 w 9948240"/>
              <a:gd name="textAreaRight" fmla="*/ 9948600 w 9948240"/>
              <a:gd name="textAreaTop" fmla="*/ 0 h 6857640"/>
              <a:gd name="textAreaBottom" fmla="*/ 6858000 h 6857640"/>
              <a:gd name="GluePoint1X" fmla="*/ 1595771 w 9963150"/>
              <a:gd name="GluePoint1Y" fmla="*/ 0 h 6858000"/>
              <a:gd name="GluePoint2X" fmla="*/ 8367379 w 9963150"/>
              <a:gd name="GluePoint2Y" fmla="*/ 0 h 6858000"/>
              <a:gd name="GluePoint3X" fmla="*/ 8504080 w 9963150"/>
              <a:gd name="GluePoint3Y" fmla="*/ 130333 h 6858000"/>
              <a:gd name="GluePoint4X" fmla="*/ 9963150 w 9963150"/>
              <a:gd name="GluePoint4Y" fmla="*/ 3652838 h 6858000"/>
              <a:gd name="GluePoint5X" fmla="*/ 8825600 w 9963150"/>
              <a:gd name="GluePoint5Y" fmla="*/ 6821583 h 6858000"/>
              <a:gd name="GluePoint6X" fmla="*/ 8794055 w 9963150"/>
              <a:gd name="GluePoint6Y" fmla="*/ 6858000 h 6858000"/>
              <a:gd name="GluePoint7X" fmla="*/ 1169096 w 9963150"/>
              <a:gd name="GluePoint7Y" fmla="*/ 6858000 h 6858000"/>
              <a:gd name="GluePoint8X" fmla="*/ 1137550 w 9963150"/>
              <a:gd name="GluePoint8Y" fmla="*/ 6821583 h 6858000"/>
              <a:gd name="GluePoint9X" fmla="*/ 0 w 9963150"/>
              <a:gd name="GluePoint9Y" fmla="*/ 3652838 h 6858000"/>
              <a:gd name="GluePoint10X" fmla="*/ 1459070 w 9963150"/>
              <a:gd name="GluePoint10Y" fmla="*/ 130333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523880" y="1999440"/>
            <a:ext cx="9143640" cy="276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7200" b="0" u="none" strike="noStrike" cap="all">
                <a:solidFill>
                  <a:schemeClr val="dk1"/>
                </a:solidFill>
                <a:effectLst/>
                <a:uFillTx/>
                <a:latin typeface="Franklin Gothic Book"/>
              </a:rPr>
              <a:t>Making DSLs conversable</a:t>
            </a:r>
            <a:endParaRPr lang="en-US" sz="7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subTitle"/>
          </p:nvPr>
        </p:nvSpPr>
        <p:spPr>
          <a:xfrm>
            <a:off x="705168" y="5619744"/>
            <a:ext cx="8257680" cy="63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marL="228600" indent="0" algn="ctr" defTabSz="914400">
              <a:lnSpc>
                <a:spcPct val="90000"/>
              </a:lnSpc>
              <a:spcBef>
                <a:spcPts val="1001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2800" b="0" u="none" strike="noStrike" dirty="0">
                <a:solidFill>
                  <a:schemeClr val="dk1"/>
                </a:solidFill>
                <a:effectLst/>
                <a:uFillTx/>
                <a:latin typeface="Franklin Gothic Book"/>
              </a:rPr>
              <a:t>Krishna Narasimhan</a:t>
            </a:r>
            <a:r>
              <a:rPr lang="en-US" sz="2800" dirty="0">
                <a:solidFill>
                  <a:schemeClr val="dk1"/>
                </a:solidFill>
                <a:latin typeface="Franklin Gothic Book"/>
              </a:rPr>
              <a:t>, 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74" name="Rectangle 9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18440" y="5524920"/>
            <a:ext cx="4754520" cy="27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17640" rIns="90000" bIns="-176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pic>
        <p:nvPicPr>
          <p:cNvPr id="75" name="Picture 6"/>
          <p:cNvPicPr/>
          <p:nvPr/>
        </p:nvPicPr>
        <p:blipFill>
          <a:blip r:embed="rId2"/>
          <a:stretch/>
        </p:blipFill>
        <p:spPr>
          <a:xfrm>
            <a:off x="6829200" y="5619744"/>
            <a:ext cx="1643760" cy="5025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withEffect">
                                  <p:stCondLst>
                                    <p:cond delay="50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fill="hold" nodeType="withEffect">
                                  <p:stCondLst>
                                    <p:cond delay="200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0" dur="4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6" name="Rectangle 9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 useBgFill="1">
        <p:nvSpPr>
          <p:cNvPr id="77" name="Freeform: Shape 9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455360" cy="6857640"/>
          </a:xfrm>
          <a:custGeom>
            <a:avLst/>
            <a:gdLst>
              <a:gd name="textAreaLeft" fmla="*/ 0 w 4455360"/>
              <a:gd name="textAreaRight" fmla="*/ 4455720 w 4455360"/>
              <a:gd name="textAreaTop" fmla="*/ 0 h 6857640"/>
              <a:gd name="textAreaBottom" fmla="*/ 6858000 h 6857640"/>
              <a:gd name="GluePoint1X" fmla="*/ 0 w 4455673"/>
              <a:gd name="GluePoint1Y" fmla="*/ 0 h 6858000"/>
              <a:gd name="GluePoint2X" fmla="*/ 3242695 w 4455673"/>
              <a:gd name="GluePoint2Y" fmla="*/ 0 h 6858000"/>
              <a:gd name="GluePoint3X" fmla="*/ 3305678 w 4455673"/>
              <a:gd name="GluePoint3Y" fmla="*/ 69271 h 6858000"/>
              <a:gd name="GluePoint4X" fmla="*/ 4455673 w 4455673"/>
              <a:gd name="GluePoint4Y" fmla="*/ 3429000 h 6858000"/>
              <a:gd name="GluePoint5X" fmla="*/ 3305678 w 4455673"/>
              <a:gd name="GluePoint5Y" fmla="*/ 6788730 h 6858000"/>
              <a:gd name="GluePoint6X" fmla="*/ 3242695 w 4455673"/>
              <a:gd name="GluePoint6Y" fmla="*/ 6858000 h 6858000"/>
              <a:gd name="GluePoint7X" fmla="*/ 0 w 4455673"/>
              <a:gd name="GluePoint7Y" fmla="*/ 685800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</a:cxnLst>
            <a:rect l="textAreaLeft" t="textAreaTop" r="textAreaRight" b="textAreaBottom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20" dist="3816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 useBgFill="1">
        <p:nvSpPr>
          <p:cNvPr id="78" name="Freeform: Shape 9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446000" cy="6857640"/>
          </a:xfrm>
          <a:custGeom>
            <a:avLst/>
            <a:gdLst>
              <a:gd name="textAreaLeft" fmla="*/ 0 w 4446000"/>
              <a:gd name="textAreaRight" fmla="*/ 4446360 w 4446000"/>
              <a:gd name="textAreaTop" fmla="*/ 0 h 6857640"/>
              <a:gd name="textAreaBottom" fmla="*/ 6858000 h 6857640"/>
              <a:gd name="GluePoint1X" fmla="*/ 0 w 4446529"/>
              <a:gd name="GluePoint1Y" fmla="*/ 0 h 6858000"/>
              <a:gd name="GluePoint2X" fmla="*/ 3233551 w 4446529"/>
              <a:gd name="GluePoint2Y" fmla="*/ 0 h 6858000"/>
              <a:gd name="GluePoint3X" fmla="*/ 3296534 w 4446529"/>
              <a:gd name="GluePoint3Y" fmla="*/ 69271 h 6858000"/>
              <a:gd name="GluePoint4X" fmla="*/ 4446529 w 4446529"/>
              <a:gd name="GluePoint4Y" fmla="*/ 3429000 h 6858000"/>
              <a:gd name="GluePoint5X" fmla="*/ 3296534 w 4446529"/>
              <a:gd name="GluePoint5Y" fmla="*/ 6788730 h 6858000"/>
              <a:gd name="GluePoint6X" fmla="*/ 3233551 w 4446529"/>
              <a:gd name="GluePoint6Y" fmla="*/ 6858000 h 6858000"/>
              <a:gd name="GluePoint7X" fmla="*/ 0 w 4446529"/>
              <a:gd name="GluePoint7Y" fmla="*/ 685800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</a:cxnLst>
            <a:rect l="textAreaLeft" t="textAreaTop" r="textAreaRight" b="textAreaBottom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371160" y="1161360"/>
            <a:ext cx="3437640" cy="123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DSLs are great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" name="Rectangle 10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1426680"/>
            <a:ext cx="127800" cy="653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81" name="Rectangle 10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96000" y="2443320"/>
            <a:ext cx="3382920" cy="18000"/>
          </a:xfrm>
          <a:prstGeom prst="rect">
            <a:avLst/>
          </a:prstGeom>
          <a:solidFill>
            <a:srgbClr val="D5D5D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/>
          </p:nvPr>
        </p:nvSpPr>
        <p:spPr>
          <a:xfrm>
            <a:off x="371160" y="2718000"/>
            <a:ext cx="3438720" cy="3206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US" sz="17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Provide reliable world model</a:t>
            </a:r>
            <a:endParaRPr lang="en-US" sz="17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US" sz="17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Capture business rules precisely</a:t>
            </a:r>
            <a:endParaRPr lang="en-US" sz="17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US" sz="17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Enable formal verification</a:t>
            </a:r>
            <a:endParaRPr lang="en-US" sz="17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US" sz="17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Makes domain logic maintainable</a:t>
            </a:r>
            <a:endParaRPr lang="en-US" sz="17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3" name="Picture 6"/>
          <p:cNvPicPr/>
          <p:nvPr/>
        </p:nvPicPr>
        <p:blipFill>
          <a:blip r:embed="rId2"/>
          <a:stretch/>
        </p:blipFill>
        <p:spPr>
          <a:xfrm>
            <a:off x="4901040" y="1168920"/>
            <a:ext cx="6921720" cy="46202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CB5F2-719A-6B8C-60C1-E7135938A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6" name="Rectangle 95">
            <a:extLst>
              <a:ext uri="{FF2B5EF4-FFF2-40B4-BE49-F238E27FC236}">
                <a16:creationId xmlns:a16="http://schemas.microsoft.com/office/drawing/2014/main" id="{2549FEEE-A3AA-4576-5676-34CEA30478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 useBgFill="1">
        <p:nvSpPr>
          <p:cNvPr id="77" name="Freeform: Shape 97">
            <a:extLst>
              <a:ext uri="{FF2B5EF4-FFF2-40B4-BE49-F238E27FC236}">
                <a16:creationId xmlns:a16="http://schemas.microsoft.com/office/drawing/2014/main" id="{FD56C340-EBB6-01C6-B542-2CBDEE9AC9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455360" cy="6857640"/>
          </a:xfrm>
          <a:custGeom>
            <a:avLst/>
            <a:gdLst>
              <a:gd name="textAreaLeft" fmla="*/ 0 w 4455360"/>
              <a:gd name="textAreaRight" fmla="*/ 4455720 w 4455360"/>
              <a:gd name="textAreaTop" fmla="*/ 0 h 6857640"/>
              <a:gd name="textAreaBottom" fmla="*/ 6858000 h 6857640"/>
              <a:gd name="GluePoint1X" fmla="*/ 0 w 4455673"/>
              <a:gd name="GluePoint1Y" fmla="*/ 0 h 6858000"/>
              <a:gd name="GluePoint2X" fmla="*/ 3242695 w 4455673"/>
              <a:gd name="GluePoint2Y" fmla="*/ 0 h 6858000"/>
              <a:gd name="GluePoint3X" fmla="*/ 3305678 w 4455673"/>
              <a:gd name="GluePoint3Y" fmla="*/ 69271 h 6858000"/>
              <a:gd name="GluePoint4X" fmla="*/ 4455673 w 4455673"/>
              <a:gd name="GluePoint4Y" fmla="*/ 3429000 h 6858000"/>
              <a:gd name="GluePoint5X" fmla="*/ 3305678 w 4455673"/>
              <a:gd name="GluePoint5Y" fmla="*/ 6788730 h 6858000"/>
              <a:gd name="GluePoint6X" fmla="*/ 3242695 w 4455673"/>
              <a:gd name="GluePoint6Y" fmla="*/ 6858000 h 6858000"/>
              <a:gd name="GluePoint7X" fmla="*/ 0 w 4455673"/>
              <a:gd name="GluePoint7Y" fmla="*/ 685800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</a:cxnLst>
            <a:rect l="textAreaLeft" t="textAreaTop" r="textAreaRight" b="textAreaBottom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20" dist="3816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 useBgFill="1">
        <p:nvSpPr>
          <p:cNvPr id="78" name="Freeform: Shape 99">
            <a:extLst>
              <a:ext uri="{FF2B5EF4-FFF2-40B4-BE49-F238E27FC236}">
                <a16:creationId xmlns:a16="http://schemas.microsoft.com/office/drawing/2014/main" id="{4036B191-CC3F-DAFF-68DD-0A389BF7F8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446000" cy="6857640"/>
          </a:xfrm>
          <a:custGeom>
            <a:avLst/>
            <a:gdLst>
              <a:gd name="textAreaLeft" fmla="*/ 0 w 4446000"/>
              <a:gd name="textAreaRight" fmla="*/ 4446360 w 4446000"/>
              <a:gd name="textAreaTop" fmla="*/ 0 h 6857640"/>
              <a:gd name="textAreaBottom" fmla="*/ 6858000 h 6857640"/>
              <a:gd name="GluePoint1X" fmla="*/ 0 w 4446529"/>
              <a:gd name="GluePoint1Y" fmla="*/ 0 h 6858000"/>
              <a:gd name="GluePoint2X" fmla="*/ 3233551 w 4446529"/>
              <a:gd name="GluePoint2Y" fmla="*/ 0 h 6858000"/>
              <a:gd name="GluePoint3X" fmla="*/ 3296534 w 4446529"/>
              <a:gd name="GluePoint3Y" fmla="*/ 69271 h 6858000"/>
              <a:gd name="GluePoint4X" fmla="*/ 4446529 w 4446529"/>
              <a:gd name="GluePoint4Y" fmla="*/ 3429000 h 6858000"/>
              <a:gd name="GluePoint5X" fmla="*/ 3296534 w 4446529"/>
              <a:gd name="GluePoint5Y" fmla="*/ 6788730 h 6858000"/>
              <a:gd name="GluePoint6X" fmla="*/ 3233551 w 4446529"/>
              <a:gd name="GluePoint6Y" fmla="*/ 6858000 h 6858000"/>
              <a:gd name="GluePoint7X" fmla="*/ 0 w 4446529"/>
              <a:gd name="GluePoint7Y" fmla="*/ 685800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</a:cxnLst>
            <a:rect l="textAreaLeft" t="textAreaTop" r="textAreaRight" b="textAreaBottom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79" name="PlaceHolder 1">
            <a:extLst>
              <a:ext uri="{FF2B5EF4-FFF2-40B4-BE49-F238E27FC236}">
                <a16:creationId xmlns:a16="http://schemas.microsoft.com/office/drawing/2014/main" id="{214E95A3-2889-BFD4-1D03-92C40568B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0" y="1161360"/>
            <a:ext cx="3437640" cy="123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0000"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800" dirty="0">
                <a:solidFill>
                  <a:schemeClr val="dk1"/>
                </a:solidFill>
                <a:latin typeface="Franklin Gothic Book"/>
              </a:rPr>
              <a:t>Helping BEAT cycling club model their domain</a:t>
            </a: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" name="Rectangle 101">
            <a:extLst>
              <a:ext uri="{FF2B5EF4-FFF2-40B4-BE49-F238E27FC236}">
                <a16:creationId xmlns:a16="http://schemas.microsoft.com/office/drawing/2014/main" id="{84172F7D-9120-7473-88C0-7227FD032D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1426680"/>
            <a:ext cx="127800" cy="653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81" name="Rectangle 103">
            <a:extLst>
              <a:ext uri="{FF2B5EF4-FFF2-40B4-BE49-F238E27FC236}">
                <a16:creationId xmlns:a16="http://schemas.microsoft.com/office/drawing/2014/main" id="{F66B4F73-FF3B-4D55-B5F3-945C5B90F4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96000" y="2443320"/>
            <a:ext cx="3382920" cy="18000"/>
          </a:xfrm>
          <a:prstGeom prst="rect">
            <a:avLst/>
          </a:prstGeom>
          <a:solidFill>
            <a:srgbClr val="D5D5D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82" name="PlaceHolder 2">
            <a:extLst>
              <a:ext uri="{FF2B5EF4-FFF2-40B4-BE49-F238E27FC236}">
                <a16:creationId xmlns:a16="http://schemas.microsoft.com/office/drawing/2014/main" id="{10526C57-5A47-4FBA-A60A-E0A8A50BFC8D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371160" y="2718000"/>
            <a:ext cx="3438720" cy="3206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/>
          </a:bodyPr>
          <a:lstStyle/>
          <a:p>
            <a:pPr marL="384120" indent="-384120"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1700" b="0" u="none" strike="noStrike" dirty="0">
                <a:solidFill>
                  <a:schemeClr val="dk1"/>
                </a:solidFill>
                <a:effectLst/>
                <a:uFillTx/>
                <a:latin typeface="Franklin Gothic Book"/>
              </a:rPr>
              <a:t>BEAT Cycling Club is an ambitious pro cycling team aiming for top-tier competition</a:t>
            </a:r>
          </a:p>
          <a:p>
            <a:pPr marL="384120" indent="-384120"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1700" b="0" u="none" strike="noStrike" dirty="0">
                <a:solidFill>
                  <a:schemeClr val="dk1"/>
                </a:solidFill>
                <a:effectLst/>
                <a:uFillTx/>
                <a:latin typeface="Franklin Gothic Book"/>
              </a:rPr>
              <a:t>Success requires smart race planning — balancing fatigue, skill, and goals across a season</a:t>
            </a:r>
          </a:p>
          <a:p>
            <a:pPr marL="384120" indent="-384120"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1700" b="0" u="none" strike="noStrike" dirty="0">
                <a:solidFill>
                  <a:schemeClr val="dk1"/>
                </a:solidFill>
                <a:effectLst/>
                <a:uFillTx/>
                <a:latin typeface="Franklin Gothic Book"/>
              </a:rPr>
              <a:t>For some races, the goal isn’t always to win — sometimes scoring points matters more</a:t>
            </a:r>
          </a:p>
          <a:p>
            <a:pPr marL="384120" indent="-384120"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1700" b="0" u="none" strike="noStrike" dirty="0">
                <a:solidFill>
                  <a:schemeClr val="dk1"/>
                </a:solidFill>
                <a:effectLst/>
                <a:uFillTx/>
                <a:latin typeface="Franklin Gothic Book"/>
              </a:rPr>
              <a:t>They needed a structured way to </a:t>
            </a:r>
            <a:r>
              <a:rPr lang="en-GB" sz="1700" b="0" u="none" strike="noStrike" dirty="0" err="1">
                <a:solidFill>
                  <a:schemeClr val="dk1"/>
                </a:solidFill>
                <a:effectLst/>
                <a:uFillTx/>
                <a:latin typeface="Franklin Gothic Book"/>
              </a:rPr>
              <a:t>analyze</a:t>
            </a:r>
            <a:r>
              <a:rPr lang="en-GB" sz="1700" b="0" u="none" strike="noStrike" dirty="0">
                <a:solidFill>
                  <a:schemeClr val="dk1"/>
                </a:solidFill>
                <a:effectLst/>
                <a:uFillTx/>
                <a:latin typeface="Franklin Gothic Book"/>
              </a:rPr>
              <a:t> riders, assign races, and manage performance data</a:t>
            </a:r>
            <a:endParaRPr lang="en-US" sz="17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06834F-1821-398C-9B0B-98F42BF065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716" y="1707464"/>
            <a:ext cx="6326124" cy="4217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2491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7F498-9DD0-0797-BF43-B35471F53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6" name="Rectangle 95">
            <a:extLst>
              <a:ext uri="{FF2B5EF4-FFF2-40B4-BE49-F238E27FC236}">
                <a16:creationId xmlns:a16="http://schemas.microsoft.com/office/drawing/2014/main" id="{3ACA3158-4B8B-0FD0-DFE9-FB647E6ECE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 useBgFill="1">
        <p:nvSpPr>
          <p:cNvPr id="77" name="Freeform: Shape 97">
            <a:extLst>
              <a:ext uri="{FF2B5EF4-FFF2-40B4-BE49-F238E27FC236}">
                <a16:creationId xmlns:a16="http://schemas.microsoft.com/office/drawing/2014/main" id="{E9EFFC80-9C92-8951-3FFA-A63E1AFCC1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455360" cy="6857640"/>
          </a:xfrm>
          <a:custGeom>
            <a:avLst/>
            <a:gdLst>
              <a:gd name="textAreaLeft" fmla="*/ 0 w 4455360"/>
              <a:gd name="textAreaRight" fmla="*/ 4455720 w 4455360"/>
              <a:gd name="textAreaTop" fmla="*/ 0 h 6857640"/>
              <a:gd name="textAreaBottom" fmla="*/ 6858000 h 6857640"/>
              <a:gd name="GluePoint1X" fmla="*/ 0 w 4455673"/>
              <a:gd name="GluePoint1Y" fmla="*/ 0 h 6858000"/>
              <a:gd name="GluePoint2X" fmla="*/ 3242695 w 4455673"/>
              <a:gd name="GluePoint2Y" fmla="*/ 0 h 6858000"/>
              <a:gd name="GluePoint3X" fmla="*/ 3305678 w 4455673"/>
              <a:gd name="GluePoint3Y" fmla="*/ 69271 h 6858000"/>
              <a:gd name="GluePoint4X" fmla="*/ 4455673 w 4455673"/>
              <a:gd name="GluePoint4Y" fmla="*/ 3429000 h 6858000"/>
              <a:gd name="GluePoint5X" fmla="*/ 3305678 w 4455673"/>
              <a:gd name="GluePoint5Y" fmla="*/ 6788730 h 6858000"/>
              <a:gd name="GluePoint6X" fmla="*/ 3242695 w 4455673"/>
              <a:gd name="GluePoint6Y" fmla="*/ 6858000 h 6858000"/>
              <a:gd name="GluePoint7X" fmla="*/ 0 w 4455673"/>
              <a:gd name="GluePoint7Y" fmla="*/ 685800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</a:cxnLst>
            <a:rect l="textAreaLeft" t="textAreaTop" r="textAreaRight" b="textAreaBottom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20" dist="3816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 useBgFill="1">
        <p:nvSpPr>
          <p:cNvPr id="78" name="Freeform: Shape 99">
            <a:extLst>
              <a:ext uri="{FF2B5EF4-FFF2-40B4-BE49-F238E27FC236}">
                <a16:creationId xmlns:a16="http://schemas.microsoft.com/office/drawing/2014/main" id="{A97A0C5B-1B83-7F2C-BADF-5CEF47E6BC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446000" cy="6857640"/>
          </a:xfrm>
          <a:custGeom>
            <a:avLst/>
            <a:gdLst>
              <a:gd name="textAreaLeft" fmla="*/ 0 w 4446000"/>
              <a:gd name="textAreaRight" fmla="*/ 4446360 w 4446000"/>
              <a:gd name="textAreaTop" fmla="*/ 0 h 6857640"/>
              <a:gd name="textAreaBottom" fmla="*/ 6858000 h 6857640"/>
              <a:gd name="GluePoint1X" fmla="*/ 0 w 4446529"/>
              <a:gd name="GluePoint1Y" fmla="*/ 0 h 6858000"/>
              <a:gd name="GluePoint2X" fmla="*/ 3233551 w 4446529"/>
              <a:gd name="GluePoint2Y" fmla="*/ 0 h 6858000"/>
              <a:gd name="GluePoint3X" fmla="*/ 3296534 w 4446529"/>
              <a:gd name="GluePoint3Y" fmla="*/ 69271 h 6858000"/>
              <a:gd name="GluePoint4X" fmla="*/ 4446529 w 4446529"/>
              <a:gd name="GluePoint4Y" fmla="*/ 3429000 h 6858000"/>
              <a:gd name="GluePoint5X" fmla="*/ 3296534 w 4446529"/>
              <a:gd name="GluePoint5Y" fmla="*/ 6788730 h 6858000"/>
              <a:gd name="GluePoint6X" fmla="*/ 3233551 w 4446529"/>
              <a:gd name="GluePoint6Y" fmla="*/ 6858000 h 6858000"/>
              <a:gd name="GluePoint7X" fmla="*/ 0 w 4446529"/>
              <a:gd name="GluePoint7Y" fmla="*/ 685800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</a:cxnLst>
            <a:rect l="textAreaLeft" t="textAreaTop" r="textAreaRight" b="textAreaBottom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79" name="PlaceHolder 1">
            <a:extLst>
              <a:ext uri="{FF2B5EF4-FFF2-40B4-BE49-F238E27FC236}">
                <a16:creationId xmlns:a16="http://schemas.microsoft.com/office/drawing/2014/main" id="{C690355E-E8BA-5C5E-BA5F-5183BEB27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0" y="1161360"/>
            <a:ext cx="3437640" cy="123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800" b="0" u="none" strike="noStrike" dirty="0">
                <a:solidFill>
                  <a:schemeClr val="dk1"/>
                </a:solidFill>
                <a:effectLst/>
                <a:uFillTx/>
                <a:latin typeface="Franklin Gothic Book"/>
              </a:rPr>
              <a:t>Powerful model, hard to use</a:t>
            </a: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" name="Rectangle 101">
            <a:extLst>
              <a:ext uri="{FF2B5EF4-FFF2-40B4-BE49-F238E27FC236}">
                <a16:creationId xmlns:a16="http://schemas.microsoft.com/office/drawing/2014/main" id="{65E3194C-D2EF-07CE-0C5E-7849E3E07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1426680"/>
            <a:ext cx="127800" cy="653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81" name="Rectangle 103">
            <a:extLst>
              <a:ext uri="{FF2B5EF4-FFF2-40B4-BE49-F238E27FC236}">
                <a16:creationId xmlns:a16="http://schemas.microsoft.com/office/drawing/2014/main" id="{CA51A1A4-1A8A-0033-6C46-DE6A9C8EE6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96000" y="2443320"/>
            <a:ext cx="3382920" cy="18000"/>
          </a:xfrm>
          <a:prstGeom prst="rect">
            <a:avLst/>
          </a:prstGeom>
          <a:solidFill>
            <a:srgbClr val="D5D5D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82" name="PlaceHolder 2">
            <a:extLst>
              <a:ext uri="{FF2B5EF4-FFF2-40B4-BE49-F238E27FC236}">
                <a16:creationId xmlns:a16="http://schemas.microsoft.com/office/drawing/2014/main" id="{11C96FAF-2F63-B432-DC38-9058E9D94782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371160" y="2718000"/>
            <a:ext cx="3438720" cy="3206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/>
          </a:bodyPr>
          <a:lstStyle/>
          <a:p>
            <a:pPr marL="384120" indent="-384120"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1700" b="0" u="none" strike="noStrike" dirty="0">
                <a:solidFill>
                  <a:schemeClr val="dk1"/>
                </a:solidFill>
                <a:effectLst/>
                <a:uFillTx/>
                <a:latin typeface="Franklin Gothic Book"/>
              </a:rPr>
              <a:t>We built a DSL-based model using race and rider data from FirstCycling.com</a:t>
            </a:r>
          </a:p>
          <a:p>
            <a:pPr marL="384120" indent="-384120"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1700" b="0" u="none" strike="noStrike" dirty="0">
                <a:solidFill>
                  <a:schemeClr val="dk1"/>
                </a:solidFill>
                <a:effectLst/>
                <a:uFillTx/>
                <a:latin typeface="Franklin Gothic Book"/>
              </a:rPr>
              <a:t>The model lets them simulate team composition and season strategies</a:t>
            </a:r>
          </a:p>
          <a:p>
            <a:pPr marL="384120" indent="-384120"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1700" b="0" u="none" strike="noStrike" dirty="0">
                <a:solidFill>
                  <a:schemeClr val="dk1"/>
                </a:solidFill>
                <a:effectLst/>
                <a:uFillTx/>
                <a:latin typeface="Franklin Gothic Book"/>
              </a:rPr>
              <a:t>But the BEAT staff aren’t techies — the DSL and its tools were too complex to use directly</a:t>
            </a:r>
          </a:p>
          <a:p>
            <a:pPr marL="384120" indent="-384120"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1700" b="0" u="none" strike="noStrike" dirty="0">
                <a:solidFill>
                  <a:schemeClr val="dk1"/>
                </a:solidFill>
                <a:effectLst/>
                <a:uFillTx/>
                <a:latin typeface="Franklin Gothic Book"/>
              </a:rPr>
              <a:t>They needed a conversational interface: a way to “talk” to the model instead of coding</a:t>
            </a:r>
            <a:endParaRPr lang="en-US" sz="17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5FA9E8-942A-A6C1-1CA4-C2271E618D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2888" y="1386408"/>
            <a:ext cx="4538472" cy="4538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73825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4" name="Rectangle 9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 useBgFill="1">
        <p:nvSpPr>
          <p:cNvPr id="85" name="Freeform: Shape 10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455360" cy="6857640"/>
          </a:xfrm>
          <a:custGeom>
            <a:avLst/>
            <a:gdLst>
              <a:gd name="textAreaLeft" fmla="*/ 0 w 4455360"/>
              <a:gd name="textAreaRight" fmla="*/ 4455720 w 4455360"/>
              <a:gd name="textAreaTop" fmla="*/ 0 h 6857640"/>
              <a:gd name="textAreaBottom" fmla="*/ 6858000 h 6857640"/>
              <a:gd name="GluePoint1X" fmla="*/ 0 w 4455673"/>
              <a:gd name="GluePoint1Y" fmla="*/ 0 h 6858000"/>
              <a:gd name="GluePoint2X" fmla="*/ 3242695 w 4455673"/>
              <a:gd name="GluePoint2Y" fmla="*/ 0 h 6858000"/>
              <a:gd name="GluePoint3X" fmla="*/ 3305678 w 4455673"/>
              <a:gd name="GluePoint3Y" fmla="*/ 69271 h 6858000"/>
              <a:gd name="GluePoint4X" fmla="*/ 4455673 w 4455673"/>
              <a:gd name="GluePoint4Y" fmla="*/ 3429000 h 6858000"/>
              <a:gd name="GluePoint5X" fmla="*/ 3305678 w 4455673"/>
              <a:gd name="GluePoint5Y" fmla="*/ 6788730 h 6858000"/>
              <a:gd name="GluePoint6X" fmla="*/ 3242695 w 4455673"/>
              <a:gd name="GluePoint6Y" fmla="*/ 6858000 h 6858000"/>
              <a:gd name="GluePoint7X" fmla="*/ 0 w 4455673"/>
              <a:gd name="GluePoint7Y" fmla="*/ 685800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</a:cxnLst>
            <a:rect l="textAreaLeft" t="textAreaTop" r="textAreaRight" b="textAreaBottom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20" dist="3816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 useBgFill="1">
        <p:nvSpPr>
          <p:cNvPr id="86" name="Freeform: Shape 10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446000" cy="6857640"/>
          </a:xfrm>
          <a:custGeom>
            <a:avLst/>
            <a:gdLst>
              <a:gd name="textAreaLeft" fmla="*/ 0 w 4446000"/>
              <a:gd name="textAreaRight" fmla="*/ 4446360 w 4446000"/>
              <a:gd name="textAreaTop" fmla="*/ 0 h 6857640"/>
              <a:gd name="textAreaBottom" fmla="*/ 6858000 h 6857640"/>
              <a:gd name="GluePoint1X" fmla="*/ 0 w 4446529"/>
              <a:gd name="GluePoint1Y" fmla="*/ 0 h 6858000"/>
              <a:gd name="GluePoint2X" fmla="*/ 3233551 w 4446529"/>
              <a:gd name="GluePoint2Y" fmla="*/ 0 h 6858000"/>
              <a:gd name="GluePoint3X" fmla="*/ 3296534 w 4446529"/>
              <a:gd name="GluePoint3Y" fmla="*/ 69271 h 6858000"/>
              <a:gd name="GluePoint4X" fmla="*/ 4446529 w 4446529"/>
              <a:gd name="GluePoint4Y" fmla="*/ 3429000 h 6858000"/>
              <a:gd name="GluePoint5X" fmla="*/ 3296534 w 4446529"/>
              <a:gd name="GluePoint5Y" fmla="*/ 6788730 h 6858000"/>
              <a:gd name="GluePoint6X" fmla="*/ 3233551 w 4446529"/>
              <a:gd name="GluePoint6Y" fmla="*/ 6858000 h 6858000"/>
              <a:gd name="GluePoint7X" fmla="*/ 0 w 4446529"/>
              <a:gd name="GluePoint7Y" fmla="*/ 685800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</a:cxnLst>
            <a:rect l="textAreaLeft" t="textAreaTop" r="textAreaRight" b="textAreaBottom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371160" y="1161360"/>
            <a:ext cx="3437640" cy="123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800" b="0" u="none" strike="noStrike" dirty="0" err="1">
                <a:solidFill>
                  <a:schemeClr val="dk1"/>
                </a:solidFill>
                <a:effectLst/>
                <a:uFillTx/>
                <a:latin typeface="Franklin Gothic Book"/>
              </a:rPr>
              <a:t>Accesibility</a:t>
            </a:r>
            <a:r>
              <a:rPr lang="en-US" sz="2800" b="0" u="none" strike="noStrike" dirty="0">
                <a:solidFill>
                  <a:schemeClr val="dk1"/>
                </a:solidFill>
                <a:effectLst/>
                <a:uFillTx/>
                <a:latin typeface="Franklin Gothic Book"/>
              </a:rPr>
              <a:t> issue</a:t>
            </a: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" name="Rectangle 10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1426680"/>
            <a:ext cx="127800" cy="653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89" name="Rectangle 10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96000" y="2443320"/>
            <a:ext cx="3382920" cy="18000"/>
          </a:xfrm>
          <a:prstGeom prst="rect">
            <a:avLst/>
          </a:prstGeom>
          <a:solidFill>
            <a:srgbClr val="D5D5D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371160" y="2718000"/>
            <a:ext cx="3438720" cy="3206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US" sz="17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DSL syntax can be difficult to master</a:t>
            </a:r>
            <a:endParaRPr lang="en-US" sz="17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US" sz="17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Can require special editors and/ or plugins</a:t>
            </a:r>
            <a:endParaRPr lang="en-US" sz="17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US" sz="17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Limited documentation and tooling support</a:t>
            </a:r>
            <a:endParaRPr lang="en-US" sz="17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US" sz="17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Steep learning curve before productivity</a:t>
            </a:r>
            <a:endParaRPr lang="en-US" sz="17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1" name="Picture 5"/>
          <p:cNvPicPr/>
          <p:nvPr/>
        </p:nvPicPr>
        <p:blipFill>
          <a:blip r:embed="rId2"/>
          <a:stretch/>
        </p:blipFill>
        <p:spPr>
          <a:xfrm>
            <a:off x="4901040" y="1168920"/>
            <a:ext cx="6921720" cy="46202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2" name="Rectangle 10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 useBgFill="1">
        <p:nvSpPr>
          <p:cNvPr id="93" name="Freeform: Shape 10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455360" cy="6857640"/>
          </a:xfrm>
          <a:custGeom>
            <a:avLst/>
            <a:gdLst>
              <a:gd name="textAreaLeft" fmla="*/ 0 w 4455360"/>
              <a:gd name="textAreaRight" fmla="*/ 4455720 w 4455360"/>
              <a:gd name="textAreaTop" fmla="*/ 0 h 6857640"/>
              <a:gd name="textAreaBottom" fmla="*/ 6858000 h 6857640"/>
              <a:gd name="GluePoint1X" fmla="*/ 0 w 4455673"/>
              <a:gd name="GluePoint1Y" fmla="*/ 0 h 6858000"/>
              <a:gd name="GluePoint2X" fmla="*/ 3242695 w 4455673"/>
              <a:gd name="GluePoint2Y" fmla="*/ 0 h 6858000"/>
              <a:gd name="GluePoint3X" fmla="*/ 3305678 w 4455673"/>
              <a:gd name="GluePoint3Y" fmla="*/ 69271 h 6858000"/>
              <a:gd name="GluePoint4X" fmla="*/ 4455673 w 4455673"/>
              <a:gd name="GluePoint4Y" fmla="*/ 3429000 h 6858000"/>
              <a:gd name="GluePoint5X" fmla="*/ 3305678 w 4455673"/>
              <a:gd name="GluePoint5Y" fmla="*/ 6788730 h 6858000"/>
              <a:gd name="GluePoint6X" fmla="*/ 3242695 w 4455673"/>
              <a:gd name="GluePoint6Y" fmla="*/ 6858000 h 6858000"/>
              <a:gd name="GluePoint7X" fmla="*/ 0 w 4455673"/>
              <a:gd name="GluePoint7Y" fmla="*/ 685800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</a:cxnLst>
            <a:rect l="textAreaLeft" t="textAreaTop" r="textAreaRight" b="textAreaBottom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20" dist="3816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 useBgFill="1">
        <p:nvSpPr>
          <p:cNvPr id="94" name="Freeform: Shape 10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446000" cy="6857640"/>
          </a:xfrm>
          <a:custGeom>
            <a:avLst/>
            <a:gdLst>
              <a:gd name="textAreaLeft" fmla="*/ 0 w 4446000"/>
              <a:gd name="textAreaRight" fmla="*/ 4446360 w 4446000"/>
              <a:gd name="textAreaTop" fmla="*/ 0 h 6857640"/>
              <a:gd name="textAreaBottom" fmla="*/ 6858000 h 6857640"/>
              <a:gd name="GluePoint1X" fmla="*/ 0 w 4446529"/>
              <a:gd name="GluePoint1Y" fmla="*/ 0 h 6858000"/>
              <a:gd name="GluePoint2X" fmla="*/ 3233551 w 4446529"/>
              <a:gd name="GluePoint2Y" fmla="*/ 0 h 6858000"/>
              <a:gd name="GluePoint3X" fmla="*/ 3296534 w 4446529"/>
              <a:gd name="GluePoint3Y" fmla="*/ 69271 h 6858000"/>
              <a:gd name="GluePoint4X" fmla="*/ 4446529 w 4446529"/>
              <a:gd name="GluePoint4Y" fmla="*/ 3429000 h 6858000"/>
              <a:gd name="GluePoint5X" fmla="*/ 3296534 w 4446529"/>
              <a:gd name="GluePoint5Y" fmla="*/ 6788730 h 6858000"/>
              <a:gd name="GluePoint6X" fmla="*/ 3233551 w 4446529"/>
              <a:gd name="GluePoint6Y" fmla="*/ 6858000 h 6858000"/>
              <a:gd name="GluePoint7X" fmla="*/ 0 w 4446529"/>
              <a:gd name="GluePoint7Y" fmla="*/ 685800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</a:cxnLst>
            <a:rect l="textAreaLeft" t="textAreaTop" r="textAreaRight" b="textAreaBottom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371160" y="1161360"/>
            <a:ext cx="3437640" cy="123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LLMs ≠ Domain Understanding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" name="Rectangle 10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1426680"/>
            <a:ext cx="127800" cy="653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97" name="Rectangle 1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96000" y="2443320"/>
            <a:ext cx="3382920" cy="18000"/>
          </a:xfrm>
          <a:prstGeom prst="rect">
            <a:avLst/>
          </a:prstGeom>
          <a:solidFill>
            <a:srgbClr val="D5D5D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371160" y="2718000"/>
            <a:ext cx="3438720" cy="3206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lstStyle/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17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Understands words, not domain structure</a:t>
            </a:r>
            <a:endParaRPr lang="en-US" sz="17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17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Can confuse entities and relationships</a:t>
            </a:r>
            <a:endParaRPr lang="en-US" sz="17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17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No schema or rule awareness</a:t>
            </a:r>
            <a:endParaRPr lang="en-US" sz="17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17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Sounds right, can act wrong</a:t>
            </a:r>
            <a:endParaRPr lang="en-US" sz="17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17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Example: “Add a race with all team members” → mismatched or duplicate entries</a:t>
            </a:r>
            <a:endParaRPr lang="en-US" sz="17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9" name="Picture 4"/>
          <p:cNvPicPr/>
          <p:nvPr/>
        </p:nvPicPr>
        <p:blipFill>
          <a:blip r:embed="rId2"/>
          <a:stretch/>
        </p:blipFill>
        <p:spPr>
          <a:xfrm>
            <a:off x="4901040" y="1168920"/>
            <a:ext cx="6921720" cy="46202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0" name="Rectangle 10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 useBgFill="1">
        <p:nvSpPr>
          <p:cNvPr id="101" name="Freeform: Shape 10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455360" cy="6857640"/>
          </a:xfrm>
          <a:custGeom>
            <a:avLst/>
            <a:gdLst>
              <a:gd name="textAreaLeft" fmla="*/ 0 w 4455360"/>
              <a:gd name="textAreaRight" fmla="*/ 4455720 w 4455360"/>
              <a:gd name="textAreaTop" fmla="*/ 0 h 6857640"/>
              <a:gd name="textAreaBottom" fmla="*/ 6858000 h 6857640"/>
              <a:gd name="GluePoint1X" fmla="*/ 0 w 4455673"/>
              <a:gd name="GluePoint1Y" fmla="*/ 0 h 6858000"/>
              <a:gd name="GluePoint2X" fmla="*/ 3242695 w 4455673"/>
              <a:gd name="GluePoint2Y" fmla="*/ 0 h 6858000"/>
              <a:gd name="GluePoint3X" fmla="*/ 3305678 w 4455673"/>
              <a:gd name="GluePoint3Y" fmla="*/ 69271 h 6858000"/>
              <a:gd name="GluePoint4X" fmla="*/ 4455673 w 4455673"/>
              <a:gd name="GluePoint4Y" fmla="*/ 3429000 h 6858000"/>
              <a:gd name="GluePoint5X" fmla="*/ 3305678 w 4455673"/>
              <a:gd name="GluePoint5Y" fmla="*/ 6788730 h 6858000"/>
              <a:gd name="GluePoint6X" fmla="*/ 3242695 w 4455673"/>
              <a:gd name="GluePoint6Y" fmla="*/ 6858000 h 6858000"/>
              <a:gd name="GluePoint7X" fmla="*/ 0 w 4455673"/>
              <a:gd name="GluePoint7Y" fmla="*/ 685800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</a:cxnLst>
            <a:rect l="textAreaLeft" t="textAreaTop" r="textAreaRight" b="textAreaBottom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20" dist="3816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 useBgFill="1">
        <p:nvSpPr>
          <p:cNvPr id="102" name="Freeform: Shape 10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446000" cy="6857640"/>
          </a:xfrm>
          <a:custGeom>
            <a:avLst/>
            <a:gdLst>
              <a:gd name="textAreaLeft" fmla="*/ 0 w 4446000"/>
              <a:gd name="textAreaRight" fmla="*/ 4446360 w 4446000"/>
              <a:gd name="textAreaTop" fmla="*/ 0 h 6857640"/>
              <a:gd name="textAreaBottom" fmla="*/ 6858000 h 6857640"/>
              <a:gd name="GluePoint1X" fmla="*/ 0 w 4446529"/>
              <a:gd name="GluePoint1Y" fmla="*/ 0 h 6858000"/>
              <a:gd name="GluePoint2X" fmla="*/ 3233551 w 4446529"/>
              <a:gd name="GluePoint2Y" fmla="*/ 0 h 6858000"/>
              <a:gd name="GluePoint3X" fmla="*/ 3296534 w 4446529"/>
              <a:gd name="GluePoint3Y" fmla="*/ 69271 h 6858000"/>
              <a:gd name="GluePoint4X" fmla="*/ 4446529 w 4446529"/>
              <a:gd name="GluePoint4Y" fmla="*/ 3429000 h 6858000"/>
              <a:gd name="GluePoint5X" fmla="*/ 3296534 w 4446529"/>
              <a:gd name="GluePoint5Y" fmla="*/ 6788730 h 6858000"/>
              <a:gd name="GluePoint6X" fmla="*/ 3233551 w 4446529"/>
              <a:gd name="GluePoint6Y" fmla="*/ 6858000 h 6858000"/>
              <a:gd name="GluePoint7X" fmla="*/ 0 w 4446529"/>
              <a:gd name="GluePoint7Y" fmla="*/ 685800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</a:cxnLst>
            <a:rect l="textAreaLeft" t="textAreaTop" r="textAreaRight" b="textAreaBottom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371160" y="1161360"/>
            <a:ext cx="3437640" cy="123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LLMs ≠ Domain Understanding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Rectangle 10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1426680"/>
            <a:ext cx="127800" cy="653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05" name="Rectangle 1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96000" y="2443320"/>
            <a:ext cx="3382920" cy="18000"/>
          </a:xfrm>
          <a:prstGeom prst="rect">
            <a:avLst/>
          </a:prstGeom>
          <a:solidFill>
            <a:srgbClr val="D5D5D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/>
          </p:nvPr>
        </p:nvSpPr>
        <p:spPr>
          <a:xfrm>
            <a:off x="371160" y="2718000"/>
            <a:ext cx="3438720" cy="3206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lstStyle/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17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Understands words, not domain structure</a:t>
            </a:r>
            <a:endParaRPr lang="en-US" sz="17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17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Can confuse entities and relationships</a:t>
            </a:r>
            <a:endParaRPr lang="en-US" sz="17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17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No schema or rule awareness</a:t>
            </a:r>
            <a:endParaRPr lang="en-US" sz="17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17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Sounds right, can act wrong</a:t>
            </a:r>
            <a:endParaRPr lang="en-US" sz="17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17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Example: “Add a race with all team members” → mismatched or duplicate entries</a:t>
            </a:r>
            <a:endParaRPr lang="en-US" sz="17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7" name="Picture 4"/>
          <p:cNvPicPr/>
          <p:nvPr/>
        </p:nvPicPr>
        <p:blipFill>
          <a:blip r:embed="rId2"/>
          <a:stretch/>
        </p:blipFill>
        <p:spPr>
          <a:xfrm>
            <a:off x="4901040" y="1168920"/>
            <a:ext cx="6921720" cy="4620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Rectangle 5"/>
          <p:cNvSpPr/>
          <p:nvPr/>
        </p:nvSpPr>
        <p:spPr>
          <a:xfrm rot="21043800">
            <a:off x="874440" y="3394440"/>
            <a:ext cx="9750240" cy="553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GB" sz="3000" b="1" u="none" strike="noStrike">
                <a:solidFill>
                  <a:schemeClr val="lt1"/>
                </a:solidFill>
                <a:effectLst/>
                <a:highlight>
                  <a:srgbClr val="000000"/>
                </a:highlight>
                <a:uFillTx/>
                <a:latin typeface="Franklin Gothic Book"/>
              </a:rPr>
              <a:t>“LLMs can talk, but they don’t understand the domain.”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0" name="Rectangle 10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 useBgFill="1">
        <p:nvSpPr>
          <p:cNvPr id="111" name="Rectangle 10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58360" y="0"/>
            <a:ext cx="11167200" cy="2018520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760" dist="37674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 useBgFill="1">
        <p:nvSpPr>
          <p:cNvPr id="112" name="Rectangle 10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67000" y="0"/>
            <a:ext cx="11155320" cy="2011320"/>
          </a:xfrm>
          <a:prstGeom prst="rect">
            <a:avLst/>
          </a:prstGeom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1115640" y="548640"/>
            <a:ext cx="10167840" cy="117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0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Can we combine them?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" name="Rectangle 1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98960" y="758880"/>
            <a:ext cx="127800" cy="703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1115640" y="2481840"/>
            <a:ext cx="10167840" cy="369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22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LLMs → accessible, natural, but unreliable</a:t>
            </a:r>
            <a:endParaRPr lang="en-US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22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DSLs → reliable, structured, but hard to access</a:t>
            </a:r>
            <a:endParaRPr lang="en-US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22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Can we get both — natural input and trusted execution?</a:t>
            </a:r>
            <a:endParaRPr lang="en-US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22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What would that system look like?</a:t>
            </a:r>
            <a:endParaRPr lang="en-US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6" name="Rectangle 10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 useBgFill="1">
        <p:nvSpPr>
          <p:cNvPr id="117" name="Freeform: Shape 10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455360" cy="6857640"/>
          </a:xfrm>
          <a:custGeom>
            <a:avLst/>
            <a:gdLst>
              <a:gd name="textAreaLeft" fmla="*/ 0 w 4455360"/>
              <a:gd name="textAreaRight" fmla="*/ 4455720 w 4455360"/>
              <a:gd name="textAreaTop" fmla="*/ 0 h 6857640"/>
              <a:gd name="textAreaBottom" fmla="*/ 6858000 h 6857640"/>
              <a:gd name="GluePoint1X" fmla="*/ 0 w 4455673"/>
              <a:gd name="GluePoint1Y" fmla="*/ 0 h 6858000"/>
              <a:gd name="GluePoint2X" fmla="*/ 3242695 w 4455673"/>
              <a:gd name="GluePoint2Y" fmla="*/ 0 h 6858000"/>
              <a:gd name="GluePoint3X" fmla="*/ 3305678 w 4455673"/>
              <a:gd name="GluePoint3Y" fmla="*/ 69271 h 6858000"/>
              <a:gd name="GluePoint4X" fmla="*/ 4455673 w 4455673"/>
              <a:gd name="GluePoint4Y" fmla="*/ 3429000 h 6858000"/>
              <a:gd name="GluePoint5X" fmla="*/ 3305678 w 4455673"/>
              <a:gd name="GluePoint5Y" fmla="*/ 6788730 h 6858000"/>
              <a:gd name="GluePoint6X" fmla="*/ 3242695 w 4455673"/>
              <a:gd name="GluePoint6Y" fmla="*/ 6858000 h 6858000"/>
              <a:gd name="GluePoint7X" fmla="*/ 0 w 4455673"/>
              <a:gd name="GluePoint7Y" fmla="*/ 685800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</a:cxnLst>
            <a:rect l="textAreaLeft" t="textAreaTop" r="textAreaRight" b="textAreaBottom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20" dist="3816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 useBgFill="1">
        <p:nvSpPr>
          <p:cNvPr id="118" name="Freeform: Shape 1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446000" cy="6857640"/>
          </a:xfrm>
          <a:custGeom>
            <a:avLst/>
            <a:gdLst>
              <a:gd name="textAreaLeft" fmla="*/ 0 w 4446000"/>
              <a:gd name="textAreaRight" fmla="*/ 4446360 w 4446000"/>
              <a:gd name="textAreaTop" fmla="*/ 0 h 6857640"/>
              <a:gd name="textAreaBottom" fmla="*/ 6858000 h 6857640"/>
              <a:gd name="GluePoint1X" fmla="*/ 0 w 4446529"/>
              <a:gd name="GluePoint1Y" fmla="*/ 0 h 6858000"/>
              <a:gd name="GluePoint2X" fmla="*/ 3233551 w 4446529"/>
              <a:gd name="GluePoint2Y" fmla="*/ 0 h 6858000"/>
              <a:gd name="GluePoint3X" fmla="*/ 3296534 w 4446529"/>
              <a:gd name="GluePoint3Y" fmla="*/ 69271 h 6858000"/>
              <a:gd name="GluePoint4X" fmla="*/ 4446529 w 4446529"/>
              <a:gd name="GluePoint4Y" fmla="*/ 3429000 h 6858000"/>
              <a:gd name="GluePoint5X" fmla="*/ 3296534 w 4446529"/>
              <a:gd name="GluePoint5Y" fmla="*/ 6788730 h 6858000"/>
              <a:gd name="GluePoint6X" fmla="*/ 3233551 w 4446529"/>
              <a:gd name="GluePoint6Y" fmla="*/ 6858000 h 6858000"/>
              <a:gd name="GluePoint7X" fmla="*/ 0 w 4446529"/>
              <a:gd name="GluePoint7Y" fmla="*/ 685800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</a:cxnLst>
            <a:rect l="textAreaLeft" t="textAreaTop" r="textAreaRight" b="textAreaBottom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371160" y="1161360"/>
            <a:ext cx="3437640" cy="123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Best of both worlds – Separation of concerns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Rectangle 1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1426680"/>
            <a:ext cx="127800" cy="653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21" name="Rectangle 1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96000" y="2443320"/>
            <a:ext cx="3382920" cy="18000"/>
          </a:xfrm>
          <a:prstGeom prst="rect">
            <a:avLst/>
          </a:prstGeom>
          <a:solidFill>
            <a:srgbClr val="D5D5D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/>
          </p:nvPr>
        </p:nvSpPr>
        <p:spPr>
          <a:xfrm>
            <a:off x="371160" y="2718000"/>
            <a:ext cx="3438720" cy="3206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LLMs offer accessibility — natural, flexible, easy for anyone to use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DSLs offer reliability — structured, validated, rule-bound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What if each did what it’s best at?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LLMs understand intent → DSLs ensure correct execution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Together: Conversational DSLs — natural input with guaranteed validity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23" name="Picture 4"/>
          <p:cNvPicPr/>
          <p:nvPr/>
        </p:nvPicPr>
        <p:blipFill>
          <a:blip r:embed="rId2"/>
          <a:stretch/>
        </p:blipFill>
        <p:spPr>
          <a:xfrm>
            <a:off x="4901040" y="1168920"/>
            <a:ext cx="6921720" cy="46202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4" name="Rectangle 1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 useBgFill="1">
        <p:nvSpPr>
          <p:cNvPr id="125" name="Freeform: Shape 1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455360" cy="6857640"/>
          </a:xfrm>
          <a:custGeom>
            <a:avLst/>
            <a:gdLst>
              <a:gd name="textAreaLeft" fmla="*/ 0 w 4455360"/>
              <a:gd name="textAreaRight" fmla="*/ 4455720 w 4455360"/>
              <a:gd name="textAreaTop" fmla="*/ 0 h 6857640"/>
              <a:gd name="textAreaBottom" fmla="*/ 6858000 h 6857640"/>
              <a:gd name="GluePoint1X" fmla="*/ 0 w 4455673"/>
              <a:gd name="GluePoint1Y" fmla="*/ 0 h 6858000"/>
              <a:gd name="GluePoint2X" fmla="*/ 3242695 w 4455673"/>
              <a:gd name="GluePoint2Y" fmla="*/ 0 h 6858000"/>
              <a:gd name="GluePoint3X" fmla="*/ 3305678 w 4455673"/>
              <a:gd name="GluePoint3Y" fmla="*/ 69271 h 6858000"/>
              <a:gd name="GluePoint4X" fmla="*/ 4455673 w 4455673"/>
              <a:gd name="GluePoint4Y" fmla="*/ 3429000 h 6858000"/>
              <a:gd name="GluePoint5X" fmla="*/ 3305678 w 4455673"/>
              <a:gd name="GluePoint5Y" fmla="*/ 6788730 h 6858000"/>
              <a:gd name="GluePoint6X" fmla="*/ 3242695 w 4455673"/>
              <a:gd name="GluePoint6Y" fmla="*/ 6858000 h 6858000"/>
              <a:gd name="GluePoint7X" fmla="*/ 0 w 4455673"/>
              <a:gd name="GluePoint7Y" fmla="*/ 685800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</a:cxnLst>
            <a:rect l="textAreaLeft" t="textAreaTop" r="textAreaRight" b="textAreaBottom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20" dist="3816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 useBgFill="1">
        <p:nvSpPr>
          <p:cNvPr id="126" name="Freeform: Shape 1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446000" cy="6857640"/>
          </a:xfrm>
          <a:custGeom>
            <a:avLst/>
            <a:gdLst>
              <a:gd name="textAreaLeft" fmla="*/ 0 w 4446000"/>
              <a:gd name="textAreaRight" fmla="*/ 4446360 w 4446000"/>
              <a:gd name="textAreaTop" fmla="*/ 0 h 6857640"/>
              <a:gd name="textAreaBottom" fmla="*/ 6858000 h 6857640"/>
              <a:gd name="GluePoint1X" fmla="*/ 0 w 4446529"/>
              <a:gd name="GluePoint1Y" fmla="*/ 0 h 6858000"/>
              <a:gd name="GluePoint2X" fmla="*/ 3233551 w 4446529"/>
              <a:gd name="GluePoint2Y" fmla="*/ 0 h 6858000"/>
              <a:gd name="GluePoint3X" fmla="*/ 3296534 w 4446529"/>
              <a:gd name="GluePoint3Y" fmla="*/ 69271 h 6858000"/>
              <a:gd name="GluePoint4X" fmla="*/ 4446529 w 4446529"/>
              <a:gd name="GluePoint4Y" fmla="*/ 3429000 h 6858000"/>
              <a:gd name="GluePoint5X" fmla="*/ 3296534 w 4446529"/>
              <a:gd name="GluePoint5Y" fmla="*/ 6788730 h 6858000"/>
              <a:gd name="GluePoint6X" fmla="*/ 3233551 w 4446529"/>
              <a:gd name="GluePoint6Y" fmla="*/ 6858000 h 6858000"/>
              <a:gd name="GluePoint7X" fmla="*/ 0 w 4446529"/>
              <a:gd name="GluePoint7Y" fmla="*/ 685800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</a:cxnLst>
            <a:rect l="textAreaLeft" t="textAreaTop" r="textAreaRight" b="textAreaBottom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371160" y="1161360"/>
            <a:ext cx="3437640" cy="123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Demo (first part - to show how the envisioned system could look like)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" name="Rectangle 1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1426680"/>
            <a:ext cx="127800" cy="653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29" name="Rectangle 1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96000" y="2443320"/>
            <a:ext cx="3382920" cy="18000"/>
          </a:xfrm>
          <a:prstGeom prst="rect">
            <a:avLst/>
          </a:prstGeom>
          <a:solidFill>
            <a:srgbClr val="D5D5D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371160" y="2718000"/>
            <a:ext cx="3438720" cy="3206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Making the point “If we could use natural language to interact with the underlying model, this is what it would look like”.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Show how an input like this results in model change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““</a:t>
            </a: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Let's set up the cycling team for next season. Create a rider named Erkan Dikan from Turkey aged 23. Create another rider Priya from Germany. Also create Team SkyIN from India with a budget of 20 million founded in 2010.”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0" defTabSz="914400">
              <a:lnSpc>
                <a:spcPct val="90000"/>
              </a:lnSpc>
              <a:spcBef>
                <a:spcPts val="499"/>
              </a:spcBef>
              <a:spcAft>
                <a:spcPts val="201"/>
              </a:spcAft>
              <a:buNone/>
              <a:tabLst>
                <a:tab pos="0" algn="l"/>
              </a:tabLst>
            </a:pP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31" name="Picture 4"/>
          <p:cNvPicPr/>
          <p:nvPr/>
        </p:nvPicPr>
        <p:blipFill>
          <a:blip r:embed="rId2"/>
          <a:stretch/>
        </p:blipFill>
        <p:spPr>
          <a:xfrm>
            <a:off x="4901040" y="1757520"/>
            <a:ext cx="6921720" cy="34434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2" name="Rectangle 1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 useBgFill="1">
        <p:nvSpPr>
          <p:cNvPr id="133" name="Freeform: Shape 1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455360" cy="6857640"/>
          </a:xfrm>
          <a:custGeom>
            <a:avLst/>
            <a:gdLst>
              <a:gd name="textAreaLeft" fmla="*/ 0 w 4455360"/>
              <a:gd name="textAreaRight" fmla="*/ 4455720 w 4455360"/>
              <a:gd name="textAreaTop" fmla="*/ 0 h 6857640"/>
              <a:gd name="textAreaBottom" fmla="*/ 6858000 h 6857640"/>
              <a:gd name="GluePoint1X" fmla="*/ 0 w 4455673"/>
              <a:gd name="GluePoint1Y" fmla="*/ 0 h 6858000"/>
              <a:gd name="GluePoint2X" fmla="*/ 3242695 w 4455673"/>
              <a:gd name="GluePoint2Y" fmla="*/ 0 h 6858000"/>
              <a:gd name="GluePoint3X" fmla="*/ 3305678 w 4455673"/>
              <a:gd name="GluePoint3Y" fmla="*/ 69271 h 6858000"/>
              <a:gd name="GluePoint4X" fmla="*/ 4455673 w 4455673"/>
              <a:gd name="GluePoint4Y" fmla="*/ 3429000 h 6858000"/>
              <a:gd name="GluePoint5X" fmla="*/ 3305678 w 4455673"/>
              <a:gd name="GluePoint5Y" fmla="*/ 6788730 h 6858000"/>
              <a:gd name="GluePoint6X" fmla="*/ 3242695 w 4455673"/>
              <a:gd name="GluePoint6Y" fmla="*/ 6858000 h 6858000"/>
              <a:gd name="GluePoint7X" fmla="*/ 0 w 4455673"/>
              <a:gd name="GluePoint7Y" fmla="*/ 685800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</a:cxnLst>
            <a:rect l="textAreaLeft" t="textAreaTop" r="textAreaRight" b="textAreaBottom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20" dist="3816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 useBgFill="1">
        <p:nvSpPr>
          <p:cNvPr id="134" name="Freeform: Shape 1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446000" cy="6857640"/>
          </a:xfrm>
          <a:custGeom>
            <a:avLst/>
            <a:gdLst>
              <a:gd name="textAreaLeft" fmla="*/ 0 w 4446000"/>
              <a:gd name="textAreaRight" fmla="*/ 4446360 w 4446000"/>
              <a:gd name="textAreaTop" fmla="*/ 0 h 6857640"/>
              <a:gd name="textAreaBottom" fmla="*/ 6858000 h 6857640"/>
              <a:gd name="GluePoint1X" fmla="*/ 0 w 4446529"/>
              <a:gd name="GluePoint1Y" fmla="*/ 0 h 6858000"/>
              <a:gd name="GluePoint2X" fmla="*/ 3233551 w 4446529"/>
              <a:gd name="GluePoint2Y" fmla="*/ 0 h 6858000"/>
              <a:gd name="GluePoint3X" fmla="*/ 3296534 w 4446529"/>
              <a:gd name="GluePoint3Y" fmla="*/ 69271 h 6858000"/>
              <a:gd name="GluePoint4X" fmla="*/ 4446529 w 4446529"/>
              <a:gd name="GluePoint4Y" fmla="*/ 3429000 h 6858000"/>
              <a:gd name="GluePoint5X" fmla="*/ 3296534 w 4446529"/>
              <a:gd name="GluePoint5Y" fmla="*/ 6788730 h 6858000"/>
              <a:gd name="GluePoint6X" fmla="*/ 3233551 w 4446529"/>
              <a:gd name="GluePoint6Y" fmla="*/ 6858000 h 6858000"/>
              <a:gd name="GluePoint7X" fmla="*/ 0 w 4446529"/>
              <a:gd name="GluePoint7Y" fmla="*/ 685800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</a:cxnLst>
            <a:rect l="textAreaLeft" t="textAreaTop" r="textAreaRight" b="textAreaBottom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371160" y="1161360"/>
            <a:ext cx="3437640" cy="123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Keeping roles separate with Connector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Rectangle 1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1426680"/>
            <a:ext cx="127800" cy="653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37" name="Rectangle 1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96000" y="2443320"/>
            <a:ext cx="3382920" cy="18000"/>
          </a:xfrm>
          <a:prstGeom prst="rect">
            <a:avLst/>
          </a:prstGeom>
          <a:solidFill>
            <a:srgbClr val="D5D5D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371160" y="2718000"/>
            <a:ext cx="3438720" cy="3206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13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The LLM never directly knows the domain structure.</a:t>
            </a:r>
            <a:endParaRPr lang="en-US" sz="13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13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The DSL defines the schema and logic.</a:t>
            </a:r>
            <a:endParaRPr lang="en-US" sz="13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13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The Connector exposes domain concepts (Rider, Team, Race, etc.) and actions (create, modify, find) to the LLM — but in a controlled way, with metadata like:</a:t>
            </a:r>
            <a:endParaRPr lang="en-US" sz="13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1" indent="-384120" defTabSz="914400">
              <a:lnSpc>
                <a:spcPct val="90000"/>
              </a:lnSpc>
              <a:spcBef>
                <a:spcPts val="499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–"/>
            </a:pPr>
            <a:r>
              <a:rPr lang="en-GB" sz="1300" b="0" i="1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natural language aliases,</a:t>
            </a:r>
            <a:endParaRPr lang="en-US" sz="13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1" indent="-384120" defTabSz="914400">
              <a:lnSpc>
                <a:spcPct val="90000"/>
              </a:lnSpc>
              <a:spcBef>
                <a:spcPts val="499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–"/>
            </a:pPr>
            <a:r>
              <a:rPr lang="en-GB" sz="1300" b="0" i="1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clarification questions,</a:t>
            </a:r>
            <a:endParaRPr lang="en-US" sz="13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1" indent="-384120" defTabSz="914400">
              <a:lnSpc>
                <a:spcPct val="90000"/>
              </a:lnSpc>
              <a:spcBef>
                <a:spcPts val="499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–"/>
            </a:pPr>
            <a:r>
              <a:rPr lang="en-GB" sz="1300" b="0" i="1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input types,</a:t>
            </a:r>
            <a:endParaRPr lang="en-US" sz="13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1" indent="-384120" defTabSz="914400">
              <a:lnSpc>
                <a:spcPct val="90000"/>
              </a:lnSpc>
              <a:spcBef>
                <a:spcPts val="499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–"/>
            </a:pPr>
            <a:r>
              <a:rPr lang="en-GB" sz="1300" b="0" i="1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parameter requirements.</a:t>
            </a:r>
            <a:endParaRPr lang="en-US" sz="13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39" name="Picture 2"/>
          <p:cNvPicPr/>
          <p:nvPr/>
        </p:nvPicPr>
        <p:blipFill>
          <a:blip r:embed="rId2"/>
          <a:stretch/>
        </p:blipFill>
        <p:spPr>
          <a:xfrm>
            <a:off x="4901040" y="1168920"/>
            <a:ext cx="6921720" cy="46202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0" name="Rectangle 1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 useBgFill="1">
        <p:nvSpPr>
          <p:cNvPr id="141" name="Freeform: Shape 1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455360" cy="6857640"/>
          </a:xfrm>
          <a:custGeom>
            <a:avLst/>
            <a:gdLst>
              <a:gd name="textAreaLeft" fmla="*/ 0 w 4455360"/>
              <a:gd name="textAreaRight" fmla="*/ 4455720 w 4455360"/>
              <a:gd name="textAreaTop" fmla="*/ 0 h 6857640"/>
              <a:gd name="textAreaBottom" fmla="*/ 6858000 h 6857640"/>
              <a:gd name="GluePoint1X" fmla="*/ 0 w 4455673"/>
              <a:gd name="GluePoint1Y" fmla="*/ 0 h 6858000"/>
              <a:gd name="GluePoint2X" fmla="*/ 3242695 w 4455673"/>
              <a:gd name="GluePoint2Y" fmla="*/ 0 h 6858000"/>
              <a:gd name="GluePoint3X" fmla="*/ 3305678 w 4455673"/>
              <a:gd name="GluePoint3Y" fmla="*/ 69271 h 6858000"/>
              <a:gd name="GluePoint4X" fmla="*/ 4455673 w 4455673"/>
              <a:gd name="GluePoint4Y" fmla="*/ 3429000 h 6858000"/>
              <a:gd name="GluePoint5X" fmla="*/ 3305678 w 4455673"/>
              <a:gd name="GluePoint5Y" fmla="*/ 6788730 h 6858000"/>
              <a:gd name="GluePoint6X" fmla="*/ 3242695 w 4455673"/>
              <a:gd name="GluePoint6Y" fmla="*/ 6858000 h 6858000"/>
              <a:gd name="GluePoint7X" fmla="*/ 0 w 4455673"/>
              <a:gd name="GluePoint7Y" fmla="*/ 685800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</a:cxnLst>
            <a:rect l="textAreaLeft" t="textAreaTop" r="textAreaRight" b="textAreaBottom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20" dist="3816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 useBgFill="1">
        <p:nvSpPr>
          <p:cNvPr id="142" name="Freeform: Shape 1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446000" cy="6857640"/>
          </a:xfrm>
          <a:custGeom>
            <a:avLst/>
            <a:gdLst>
              <a:gd name="textAreaLeft" fmla="*/ 0 w 4446000"/>
              <a:gd name="textAreaRight" fmla="*/ 4446360 w 4446000"/>
              <a:gd name="textAreaTop" fmla="*/ 0 h 6857640"/>
              <a:gd name="textAreaBottom" fmla="*/ 6858000 h 6857640"/>
              <a:gd name="GluePoint1X" fmla="*/ 0 w 4446529"/>
              <a:gd name="GluePoint1Y" fmla="*/ 0 h 6858000"/>
              <a:gd name="GluePoint2X" fmla="*/ 3233551 w 4446529"/>
              <a:gd name="GluePoint2Y" fmla="*/ 0 h 6858000"/>
              <a:gd name="GluePoint3X" fmla="*/ 3296534 w 4446529"/>
              <a:gd name="GluePoint3Y" fmla="*/ 69271 h 6858000"/>
              <a:gd name="GluePoint4X" fmla="*/ 4446529 w 4446529"/>
              <a:gd name="GluePoint4Y" fmla="*/ 3429000 h 6858000"/>
              <a:gd name="GluePoint5X" fmla="*/ 3296534 w 4446529"/>
              <a:gd name="GluePoint5Y" fmla="*/ 6788730 h 6858000"/>
              <a:gd name="GluePoint6X" fmla="*/ 3233551 w 4446529"/>
              <a:gd name="GluePoint6Y" fmla="*/ 6858000 h 6858000"/>
              <a:gd name="GluePoint7X" fmla="*/ 0 w 4446529"/>
              <a:gd name="GluePoint7Y" fmla="*/ 685800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</a:cxnLst>
            <a:rect l="textAreaLeft" t="textAreaTop" r="textAreaRight" b="textAreaBottom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371160" y="1161360"/>
            <a:ext cx="3437640" cy="123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High level system design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" name="Rectangle 1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1426680"/>
            <a:ext cx="127800" cy="653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45" name="Rectangle 1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96000" y="2443320"/>
            <a:ext cx="3382920" cy="18000"/>
          </a:xfrm>
          <a:prstGeom prst="rect">
            <a:avLst/>
          </a:prstGeom>
          <a:solidFill>
            <a:srgbClr val="D5D5D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371160" y="2718000"/>
            <a:ext cx="3438720" cy="3206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lstStyle/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The LLM extracts the task and parameter values from natural language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The Connector constrains the interaction to known tasks and parameters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Missing details trigger clarification prompts back to the user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The DSL Engine executes the validated action on the domain model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The Domain Model remains the single source of truth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47" name="Picture 2"/>
          <p:cNvPicPr/>
          <p:nvPr/>
        </p:nvPicPr>
        <p:blipFill>
          <a:blip r:embed="rId2"/>
          <a:stretch/>
        </p:blipFill>
        <p:spPr>
          <a:xfrm>
            <a:off x="4901040" y="1168920"/>
            <a:ext cx="6921720" cy="46202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7B8DE-52C0-B210-E50E-0ECD1C841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0" name="Rectangle 116">
            <a:extLst>
              <a:ext uri="{FF2B5EF4-FFF2-40B4-BE49-F238E27FC236}">
                <a16:creationId xmlns:a16="http://schemas.microsoft.com/office/drawing/2014/main" id="{4385F2E4-01C4-E6F8-09D2-47D3374133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 dirty="0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 useBgFill="1">
        <p:nvSpPr>
          <p:cNvPr id="141" name="Freeform: Shape 118">
            <a:extLst>
              <a:ext uri="{FF2B5EF4-FFF2-40B4-BE49-F238E27FC236}">
                <a16:creationId xmlns:a16="http://schemas.microsoft.com/office/drawing/2014/main" id="{CFB413F9-1E9F-1934-2D01-7AB5E6D8E1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455360" cy="6857640"/>
          </a:xfrm>
          <a:custGeom>
            <a:avLst/>
            <a:gdLst>
              <a:gd name="textAreaLeft" fmla="*/ 0 w 4455360"/>
              <a:gd name="textAreaRight" fmla="*/ 4455720 w 4455360"/>
              <a:gd name="textAreaTop" fmla="*/ 0 h 6857640"/>
              <a:gd name="textAreaBottom" fmla="*/ 6858000 h 6857640"/>
              <a:gd name="GluePoint1X" fmla="*/ 0 w 4455673"/>
              <a:gd name="GluePoint1Y" fmla="*/ 0 h 6858000"/>
              <a:gd name="GluePoint2X" fmla="*/ 3242695 w 4455673"/>
              <a:gd name="GluePoint2Y" fmla="*/ 0 h 6858000"/>
              <a:gd name="GluePoint3X" fmla="*/ 3305678 w 4455673"/>
              <a:gd name="GluePoint3Y" fmla="*/ 69271 h 6858000"/>
              <a:gd name="GluePoint4X" fmla="*/ 4455673 w 4455673"/>
              <a:gd name="GluePoint4Y" fmla="*/ 3429000 h 6858000"/>
              <a:gd name="GluePoint5X" fmla="*/ 3305678 w 4455673"/>
              <a:gd name="GluePoint5Y" fmla="*/ 6788730 h 6858000"/>
              <a:gd name="GluePoint6X" fmla="*/ 3242695 w 4455673"/>
              <a:gd name="GluePoint6Y" fmla="*/ 6858000 h 6858000"/>
              <a:gd name="GluePoint7X" fmla="*/ 0 w 4455673"/>
              <a:gd name="GluePoint7Y" fmla="*/ 685800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</a:cxnLst>
            <a:rect l="textAreaLeft" t="textAreaTop" r="textAreaRight" b="textAreaBottom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20" dist="3816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 useBgFill="1">
        <p:nvSpPr>
          <p:cNvPr id="142" name="Freeform: Shape 120">
            <a:extLst>
              <a:ext uri="{FF2B5EF4-FFF2-40B4-BE49-F238E27FC236}">
                <a16:creationId xmlns:a16="http://schemas.microsoft.com/office/drawing/2014/main" id="{41E7418F-25B7-8F4C-236E-C54E31A765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446000" cy="6857640"/>
          </a:xfrm>
          <a:custGeom>
            <a:avLst/>
            <a:gdLst>
              <a:gd name="textAreaLeft" fmla="*/ 0 w 4446000"/>
              <a:gd name="textAreaRight" fmla="*/ 4446360 w 4446000"/>
              <a:gd name="textAreaTop" fmla="*/ 0 h 6857640"/>
              <a:gd name="textAreaBottom" fmla="*/ 6858000 h 6857640"/>
              <a:gd name="GluePoint1X" fmla="*/ 0 w 4446529"/>
              <a:gd name="GluePoint1Y" fmla="*/ 0 h 6858000"/>
              <a:gd name="GluePoint2X" fmla="*/ 3233551 w 4446529"/>
              <a:gd name="GluePoint2Y" fmla="*/ 0 h 6858000"/>
              <a:gd name="GluePoint3X" fmla="*/ 3296534 w 4446529"/>
              <a:gd name="GluePoint3Y" fmla="*/ 69271 h 6858000"/>
              <a:gd name="GluePoint4X" fmla="*/ 4446529 w 4446529"/>
              <a:gd name="GluePoint4Y" fmla="*/ 3429000 h 6858000"/>
              <a:gd name="GluePoint5X" fmla="*/ 3296534 w 4446529"/>
              <a:gd name="GluePoint5Y" fmla="*/ 6788730 h 6858000"/>
              <a:gd name="GluePoint6X" fmla="*/ 3233551 w 4446529"/>
              <a:gd name="GluePoint6Y" fmla="*/ 6858000 h 6858000"/>
              <a:gd name="GluePoint7X" fmla="*/ 0 w 4446529"/>
              <a:gd name="GluePoint7Y" fmla="*/ 685800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</a:cxnLst>
            <a:rect l="textAreaLeft" t="textAreaTop" r="textAreaRight" b="textAreaBottom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43" name="PlaceHolder 1">
            <a:extLst>
              <a:ext uri="{FF2B5EF4-FFF2-40B4-BE49-F238E27FC236}">
                <a16:creationId xmlns:a16="http://schemas.microsoft.com/office/drawing/2014/main" id="{31D555D4-9724-4FD4-4327-AE044734D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0" y="1161360"/>
            <a:ext cx="3437640" cy="123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800" b="0" u="none" strike="noStrike" dirty="0">
                <a:solidFill>
                  <a:schemeClr val="dk1"/>
                </a:solidFill>
                <a:effectLst/>
                <a:uFillTx/>
                <a:latin typeface="Franklin Gothic Book"/>
              </a:rPr>
              <a:t>Implementation</a:t>
            </a: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" name="Rectangle 122">
            <a:extLst>
              <a:ext uri="{FF2B5EF4-FFF2-40B4-BE49-F238E27FC236}">
                <a16:creationId xmlns:a16="http://schemas.microsoft.com/office/drawing/2014/main" id="{32A98DD3-EC1E-39EA-644A-8FF683E821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1426680"/>
            <a:ext cx="127800" cy="653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45" name="Rectangle 124">
            <a:extLst>
              <a:ext uri="{FF2B5EF4-FFF2-40B4-BE49-F238E27FC236}">
                <a16:creationId xmlns:a16="http://schemas.microsoft.com/office/drawing/2014/main" id="{5CCC9C89-6181-D1A6-54DA-500BAB84C8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96000" y="2443320"/>
            <a:ext cx="3382920" cy="18000"/>
          </a:xfrm>
          <a:prstGeom prst="rect">
            <a:avLst/>
          </a:prstGeom>
          <a:solidFill>
            <a:srgbClr val="D5D5D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46" name="PlaceHolder 2">
            <a:extLst>
              <a:ext uri="{FF2B5EF4-FFF2-40B4-BE49-F238E27FC236}">
                <a16:creationId xmlns:a16="http://schemas.microsoft.com/office/drawing/2014/main" id="{FA6D237A-98C9-21D1-5677-4C987F2203D4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371160" y="2718000"/>
            <a:ext cx="3438720" cy="3206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lstStyle/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Franklin Gothic Book"/>
              </a:rPr>
              <a:t>Two referenc</a:t>
            </a:r>
            <a:r>
              <a:rPr lang="en-US" sz="1400" dirty="0">
                <a:solidFill>
                  <a:schemeClr val="dk1"/>
                </a:solidFill>
                <a:latin typeface="Franklin Gothic Book"/>
              </a:rPr>
              <a:t>e implementations	</a:t>
            </a:r>
            <a:endParaRPr lang="en-US" sz="14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84120" indent="-384120"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Franklin Gothic Book"/>
              </a:rPr>
              <a:t>LionWeb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Franklin Gothic Book"/>
              </a:rPr>
              <a:t> (https://lionweb.io/)</a:t>
            </a:r>
          </a:p>
          <a:p>
            <a:pPr marL="384120" indent="-384120"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US" sz="1400" dirty="0">
                <a:solidFill>
                  <a:schemeClr val="dk1"/>
                </a:solidFill>
                <a:latin typeface="Franklin Gothic Book"/>
              </a:rPr>
              <a:t>Lark (</a:t>
            </a:r>
            <a:r>
              <a:rPr lang="en-US" sz="1400" dirty="0">
                <a:solidFill>
                  <a:schemeClr val="dk1"/>
                </a:solidFill>
                <a:latin typeface="Franklin Gothic Book"/>
                <a:hlinkClick r:id="rId2"/>
              </a:rPr>
              <a:t>https://lionweb.io/</a:t>
            </a:r>
            <a:r>
              <a:rPr lang="en-US" sz="1400" dirty="0">
                <a:solidFill>
                  <a:schemeClr val="dk1"/>
                </a:solidFill>
                <a:latin typeface="Franklin Gothic Book"/>
              </a:rPr>
              <a:t>)</a:t>
            </a:r>
          </a:p>
          <a:p>
            <a:pPr marL="384120" indent="-384120"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endParaRPr lang="en-US" sz="1400" dirty="0">
              <a:solidFill>
                <a:schemeClr val="dk1"/>
              </a:solidFill>
              <a:latin typeface="Franklin Gothic Book"/>
            </a:endParaRPr>
          </a:p>
          <a:p>
            <a:pPr marL="384120" indent="-384120"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US" sz="1400" dirty="0">
                <a:solidFill>
                  <a:schemeClr val="dk1"/>
                </a:solidFill>
                <a:latin typeface="Franklin Gothic Book"/>
              </a:rPr>
              <a:t>Supported model hubs:</a:t>
            </a:r>
          </a:p>
          <a:p>
            <a:pPr marL="384120" indent="-384120"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US" sz="1400" dirty="0">
                <a:solidFill>
                  <a:schemeClr val="dk1"/>
                </a:solidFill>
                <a:latin typeface="Franklin Gothic Book"/>
              </a:rPr>
              <a:t>Hugging Face</a:t>
            </a:r>
          </a:p>
          <a:p>
            <a:pPr marL="384120" indent="-384120"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US" sz="1400" dirty="0" err="1">
                <a:solidFill>
                  <a:schemeClr val="dk1"/>
                </a:solidFill>
                <a:latin typeface="Franklin Gothic Book"/>
              </a:rPr>
              <a:t>Ollama</a:t>
            </a:r>
            <a:r>
              <a:rPr lang="en-US" sz="1400" dirty="0">
                <a:solidFill>
                  <a:schemeClr val="dk1"/>
                </a:solidFill>
                <a:latin typeface="Franklin Gothic Book"/>
              </a:rPr>
              <a:t> Cloud</a:t>
            </a:r>
          </a:p>
          <a:p>
            <a:pPr marL="384120" indent="-384120"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US" sz="1400" dirty="0" err="1">
                <a:solidFill>
                  <a:schemeClr val="dk1"/>
                </a:solidFill>
                <a:latin typeface="Franklin Gothic Book"/>
              </a:rPr>
              <a:t>Ollama</a:t>
            </a:r>
            <a:r>
              <a:rPr lang="en-US" sz="1400" dirty="0">
                <a:solidFill>
                  <a:schemeClr val="dk1"/>
                </a:solidFill>
                <a:latin typeface="Franklin Gothic Book"/>
              </a:rPr>
              <a:t> locally hosted</a:t>
            </a:r>
          </a:p>
          <a:p>
            <a:pPr marL="384120" indent="-384120"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endParaRPr lang="en-US" sz="1400" b="0" u="none" strike="noStrike" dirty="0">
              <a:solidFill>
                <a:schemeClr val="dk1"/>
              </a:solidFill>
              <a:effectLst/>
              <a:uFillTx/>
              <a:latin typeface="Franklin Gothic Book"/>
            </a:endParaRPr>
          </a:p>
          <a:p>
            <a:pPr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</a:pPr>
            <a:endParaRPr lang="en-US" sz="14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795E56-707C-D60C-C4D3-EF17B0208D8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9232" y="1426680"/>
            <a:ext cx="3322320" cy="332232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A654B3D-EDEA-F44E-18DC-B41119E55EC8}"/>
              </a:ext>
            </a:extLst>
          </p:cNvPr>
          <p:cNvSpPr txBox="1"/>
          <p:nvPr/>
        </p:nvSpPr>
        <p:spPr>
          <a:xfrm>
            <a:off x="5596128" y="5001550"/>
            <a:ext cx="63550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>
                <a:solidFill>
                  <a:srgbClr val="002060"/>
                </a:solidFill>
                <a:latin typeface="Consolas" panose="020B0609020204030204" pitchFamily="49" charset="0"/>
              </a:rPr>
              <a:t>https://github.com/krinara86/llm_dsl_validator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58431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4" name="Rectangle 1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 useBgFill="1">
        <p:nvSpPr>
          <p:cNvPr id="155" name="Rectangle 1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58360" y="0"/>
            <a:ext cx="11167200" cy="2018520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760" dist="37674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 useBgFill="1">
        <p:nvSpPr>
          <p:cNvPr id="156" name="Rectangle 1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67000" y="0"/>
            <a:ext cx="11155320" cy="2011320"/>
          </a:xfrm>
          <a:prstGeom prst="rect">
            <a:avLst/>
          </a:prstGeom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1115640" y="548640"/>
            <a:ext cx="10167840" cy="117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0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Demo part 2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Rectangle 1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98960" y="758880"/>
            <a:ext cx="127800" cy="703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/>
          </p:nvPr>
        </p:nvSpPr>
        <p:spPr>
          <a:xfrm>
            <a:off x="1115640" y="2481840"/>
            <a:ext cx="10167840" cy="369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84120" indent="-384120" defTabSz="914400">
              <a:lnSpc>
                <a:spcPct val="90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Franklin Gothic Book"/>
              </a:rPr>
              <a:t>Show multiple queries (create, modify, find) in both cycling (lionweb) and event management (lark)</a:t>
            </a:r>
            <a:endParaRPr lang="en-US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withEffect">
                                  <p:stCondLst>
                                    <p:cond delay="50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4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4035</TotalTime>
  <Words>671</Words>
  <Application>Microsoft Office PowerPoint</Application>
  <PresentationFormat>Widescreen</PresentationFormat>
  <Paragraphs>77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Arial</vt:lpstr>
      <vt:lpstr>Calibri</vt:lpstr>
      <vt:lpstr>Calibri Light</vt:lpstr>
      <vt:lpstr>Consolas</vt:lpstr>
      <vt:lpstr>Franklin Gothic Book</vt:lpstr>
      <vt:lpstr>Symbol</vt:lpstr>
      <vt:lpstr>Wingdings</vt:lpstr>
      <vt:lpstr>Office 2013 - 2022 Theme</vt:lpstr>
      <vt:lpstr>Making DSLs conversable</vt:lpstr>
      <vt:lpstr>DSLs are great</vt:lpstr>
      <vt:lpstr>Helping BEAT cycling club model their domain</vt:lpstr>
      <vt:lpstr>Powerful model, hard to use</vt:lpstr>
      <vt:lpstr>Accesibility issue</vt:lpstr>
      <vt:lpstr>LLMs ≠ Domain Understanding</vt:lpstr>
      <vt:lpstr>LLMs ≠ Domain Understanding</vt:lpstr>
      <vt:lpstr>Can we combine them?</vt:lpstr>
      <vt:lpstr>Best of both worlds – Separation of concerns</vt:lpstr>
      <vt:lpstr>Demo (first part - to show how the envisioned system could look like)</vt:lpstr>
      <vt:lpstr>Keeping roles separate with Connector</vt:lpstr>
      <vt:lpstr>High level system design</vt:lpstr>
      <vt:lpstr>Implementation</vt:lpstr>
      <vt:lpstr>Demo part 2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Tagnet Security</dc:creator>
  <dc:description/>
  <cp:lastModifiedBy>Tagnet Security</cp:lastModifiedBy>
  <cp:revision>26</cp:revision>
  <dcterms:created xsi:type="dcterms:W3CDTF">2025-10-07T13:36:30Z</dcterms:created>
  <dcterms:modified xsi:type="dcterms:W3CDTF">2025-10-10T13:15:54Z</dcterms:modified>
  <dc:language>nl-NL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r8>12</vt:r8>
  </property>
</Properties>
</file>